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8f26f696734c30" /><Relationship Type="http://schemas.openxmlformats.org/officeDocument/2006/relationships/extended-properties" Target="/docProps/app.xml" Id="R01015616502d4df6" /><Relationship Type="http://schemas.openxmlformats.org/officeDocument/2006/relationships/officeDocument" Target="/ppt/presentation.xml" Id="R79ad697149ef42c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7f7a72b97244123"/>
  </p:sldMasterIdLst>
  <p:notesMasterIdLst>
    <p:notesMasterId xmlns:r="http://schemas.openxmlformats.org/officeDocument/2006/relationships" r:id="Rcad52ed1a18a4574"/>
  </p:notesMasterIdLst>
  <p:sldIdLst>
    <p:sldId xmlns:r="http://schemas.openxmlformats.org/officeDocument/2006/relationships" id="256" r:id="R1324c929898d49c2"/>
    <p:sldId xmlns:r="http://schemas.openxmlformats.org/officeDocument/2006/relationships" id="257" r:id="R0b41644f52294a74"/>
    <p:sldId xmlns:r="http://schemas.openxmlformats.org/officeDocument/2006/relationships" id="258" r:id="R05614e922cab463e"/>
    <p:sldId xmlns:r="http://schemas.openxmlformats.org/officeDocument/2006/relationships" id="259" r:id="Ra99bae8675714e93"/>
    <p:sldId xmlns:r="http://schemas.openxmlformats.org/officeDocument/2006/relationships" id="260" r:id="Rcdd9c01f7d6c4b73"/>
    <p:sldId xmlns:r="http://schemas.openxmlformats.org/officeDocument/2006/relationships" id="261" r:id="R699065a31cfa4a66"/>
    <p:sldId xmlns:r="http://schemas.openxmlformats.org/officeDocument/2006/relationships" id="262" r:id="R699bf8c57afb4276"/>
    <p:sldId xmlns:r="http://schemas.openxmlformats.org/officeDocument/2006/relationships" id="263" r:id="R85a3299f28a1417c"/>
    <p:sldId xmlns:r="http://schemas.openxmlformats.org/officeDocument/2006/relationships" id="264" r:id="R90ac221962a648d3"/>
    <p:sldId xmlns:r="http://schemas.openxmlformats.org/officeDocument/2006/relationships" id="265" r:id="R8731a4c8f9ee4c94"/>
    <p:sldId xmlns:r="http://schemas.openxmlformats.org/officeDocument/2006/relationships" id="266" r:id="R013a74609bf94fa3"/>
    <p:sldId xmlns:r="http://schemas.openxmlformats.org/officeDocument/2006/relationships" id="267" r:id="Rcc04d1ec82bc40ae"/>
  </p:sldIdLst>
  <p:sldSz cx="12192000" cy="6858000"/>
  <p:notesSz cx="6858000" cy="9144000"/>
  <p:embeddedFontLst>
    <p:embeddedFont>
      <p:font typeface="OpenAI Sans"/>
      <p:regular xmlns:r="http://schemas.openxmlformats.org/officeDocument/2006/relationships" r:id="R1e58cfcbdad84669"/>
      <p:bold xmlns:r="http://schemas.openxmlformats.org/officeDocument/2006/relationships" r:id="R77856dbbfcf04f22"/>
      <p:italic xmlns:r="http://schemas.openxmlformats.org/officeDocument/2006/relationships" r:id="R257be9335a034f61"/>
      <p:boldItalic xmlns:r="http://schemas.openxmlformats.org/officeDocument/2006/relationships" r:id="R90da7e224a96494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54ef143f3764fdf" /><Relationship Type="http://schemas.openxmlformats.org/officeDocument/2006/relationships/slideMaster" Target="/ppt/slideMasters/slideMaster1.xml" Id="Rb7f7a72b97244123" /><Relationship Type="http://schemas.openxmlformats.org/officeDocument/2006/relationships/notesMaster" Target="/ppt/notesMasters/notesMaster1.xml" Id="Rcad52ed1a18a4574" /><Relationship Type="http://schemas.openxmlformats.org/officeDocument/2006/relationships/presProps" Target="/ppt/presProps.xml" Id="R89a8daa39059431b" /><Relationship Type="http://schemas.openxmlformats.org/officeDocument/2006/relationships/viewProps" Target="/ppt/viewProps.xml" Id="Ra210466752144540" /><Relationship Type="http://schemas.openxmlformats.org/officeDocument/2006/relationships/tableStyles" Target="/ppt/tableStyles.xml" Id="R13d82a94eb5c41f5" /><Relationship Type="http://schemas.openxmlformats.org/officeDocument/2006/relationships/font" Target="/ppt/fonts/font.dat" Id="R1e58cfcbdad84669" /><Relationship Type="http://schemas.openxmlformats.org/officeDocument/2006/relationships/font" Target="/ppt/fonts/font2.dat" Id="R77856dbbfcf04f22" /><Relationship Type="http://schemas.openxmlformats.org/officeDocument/2006/relationships/font" Target="/ppt/fonts/font3.dat" Id="R257be9335a034f61" /><Relationship Type="http://schemas.openxmlformats.org/officeDocument/2006/relationships/font" Target="/ppt/fonts/font4.dat" Id="R90da7e224a964946" /><Relationship Type="http://schemas.openxmlformats.org/officeDocument/2006/relationships/slide" Target="/ppt/slides/slide1.xml" Id="R1324c929898d49c2" /><Relationship Type="http://schemas.openxmlformats.org/officeDocument/2006/relationships/slide" Target="/ppt/slides/slide2.xml" Id="R0b41644f52294a74" /><Relationship Type="http://schemas.openxmlformats.org/officeDocument/2006/relationships/slide" Target="/ppt/slides/slide3.xml" Id="R05614e922cab463e" /><Relationship Type="http://schemas.openxmlformats.org/officeDocument/2006/relationships/slide" Target="/ppt/slides/slide4.xml" Id="Ra99bae8675714e93" /><Relationship Type="http://schemas.openxmlformats.org/officeDocument/2006/relationships/slide" Target="/ppt/slides/slide5.xml" Id="Rcdd9c01f7d6c4b73" /><Relationship Type="http://schemas.openxmlformats.org/officeDocument/2006/relationships/slide" Target="/ppt/slides/slide6.xml" Id="R699065a31cfa4a66" /><Relationship Type="http://schemas.openxmlformats.org/officeDocument/2006/relationships/slide" Target="/ppt/slides/slide7.xml" Id="R699bf8c57afb4276" /><Relationship Type="http://schemas.openxmlformats.org/officeDocument/2006/relationships/slide" Target="/ppt/slides/slide8.xml" Id="R85a3299f28a1417c" /><Relationship Type="http://schemas.openxmlformats.org/officeDocument/2006/relationships/slide" Target="/ppt/slides/slide9.xml" Id="R90ac221962a648d3" /><Relationship Type="http://schemas.openxmlformats.org/officeDocument/2006/relationships/slide" Target="/ppt/slides/slide10.xml" Id="R8731a4c8f9ee4c94" /><Relationship Type="http://schemas.openxmlformats.org/officeDocument/2006/relationships/slide" Target="/ppt/slides/slide11.xml" Id="R013a74609bf94fa3" /><Relationship Type="http://schemas.openxmlformats.org/officeDocument/2006/relationships/slide" Target="/ppt/slides/slide12.xml" Id="Rcc04d1ec82bc40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b55af83cc6a4d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ef31a050524bc7" /><Relationship Type="http://schemas.openxmlformats.org/officeDocument/2006/relationships/notesMaster" Target="/ppt/notesMasters/notesMaster1.xml" Id="R1f9b28d4896544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77259873484b75" /><Relationship Type="http://schemas.openxmlformats.org/officeDocument/2006/relationships/notesMaster" Target="/ppt/notesMasters/notesMaster1.xml" Id="Rdb99a92b8b8d4a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e6c8d76c2b48a7" /><Relationship Type="http://schemas.openxmlformats.org/officeDocument/2006/relationships/notesMaster" Target="/ppt/notesMasters/notesMaster1.xml" Id="R086391eac88245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7eeccd582c4379" /><Relationship Type="http://schemas.openxmlformats.org/officeDocument/2006/relationships/notesMaster" Target="/ppt/notesMasters/notesMaster1.xml" Id="Rf3197b3d1ecc4d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4966d12cb4c2a" /><Relationship Type="http://schemas.openxmlformats.org/officeDocument/2006/relationships/notesMaster" Target="/ppt/notesMasters/notesMaster1.xml" Id="R6e48e3bb145742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c59bc40eeb4e9c" /><Relationship Type="http://schemas.openxmlformats.org/officeDocument/2006/relationships/notesMaster" Target="/ppt/notesMasters/notesMaster1.xml" Id="R1a5878b288e04d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2f245af06444a92" /><Relationship Type="http://schemas.openxmlformats.org/officeDocument/2006/relationships/notesMaster" Target="/ppt/notesMasters/notesMaster1.xml" Id="Ra14f7794c66748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8b86e2421b4429" /><Relationship Type="http://schemas.openxmlformats.org/officeDocument/2006/relationships/notesMaster" Target="/ppt/notesMasters/notesMaster1.xml" Id="Rb16cc651b16b4e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27a257b12f4f2e" /><Relationship Type="http://schemas.openxmlformats.org/officeDocument/2006/relationships/notesMaster" Target="/ppt/notesMasters/notesMaster1.xml" Id="Ra98cf31406f546f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c9d732d2714abd" /><Relationship Type="http://schemas.openxmlformats.org/officeDocument/2006/relationships/notesMaster" Target="/ppt/notesMasters/notesMaster1.xml" Id="R6f3990d186eb46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eadd2ccc324c3d" /><Relationship Type="http://schemas.openxmlformats.org/officeDocument/2006/relationships/notesMaster" Target="/ppt/notesMasters/notesMaster1.xml" Id="Rb3cc505e0f0042b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2d7981eb0f4dd3" /><Relationship Type="http://schemas.openxmlformats.org/officeDocument/2006/relationships/notesMaster" Target="/ppt/notesMasters/notesMaster1.xml" Id="R635de28a1ca646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
            </a:r>
            <a:endParaRPr/>
          </a:p>
          <a:p xmlns:a="http://schemas.openxmlformats.org/drawingml/2006/main">
            <a:r>
              <a:t>Cover photograph generated with OpenAI image generation for this presentation,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Problem (25 seconds). A retrofit decision combines technical sequencing, household priorities and funding eligibility. This is the problem framing for our prototype, not a quantified customer-research finding. Poor sequencing can create rework or inappropriate outcomes.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Solution (30 seconds). The journey asks about dwelling type, age, area, fabric, heating, moisture, ventilation, budget, applicant type and BER evidence. The output is a pathway and a contractor-ready brief, not a quotation or a replacement for professional assessment.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Funding routes (35 seconds). Individual Energy Upgrades / Better Energy Homes, One Stop Shop, and Fully Funded Energy Upgrades are separate routes. Approved Housing Bodies can have different grant amounts and must be classified correctly. Fully funded does not mean every requested measure is automatically covered. Sources: https://www.seai.ie/grants/home-energy-grants/individual-grants ; https://www.seai.ie/grants/home-energy-grants/one-stop-shop/multiple-energy-upgrades ; https://www.seai.ie/grants/home-energy-grants/fully-funded-upgrades-for-certain-homeowners ; https://www.seai.ie/grants/home-energy-grants/one-stop-shop/approved-housing-body . Prepared September 2026; eligibility and scheme terms must be checked at application.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Worked example (40 seconds). Synthetic semi-detached home, standard private applicant rates, assuming grant eligibility. SEAI 2025 individual-upgrade medians: attic insulation €2,000 and cavity wall insulation €1,550. Standard grants €1,500 and €1,300 respectively. Arithmetic: €3,550 minus €2,800 = €750. This is a priced subset, not a whole-home budget; assessment, ventilation, remedial work and contingency are excluded. Grant payment timing may require upfront funding. Do not add the fully funded route to these grants. Sources: https://www.seai.ie/sites/default/files/publications/Median-costs-of-individual-energy-upgrades.pdf ; https://www.seai.ie/grants/home-energy-grants/individual-grants . Benchmarks are 2025 data, not 2026 quotations. Prepared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property photographs generated with OpenAI image generation for this presentation, September 2026. Homes are illustrative, not project case studies.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Why an agent (35 seconds). The interview can gather missing facts, retrieval supplies dated source material, deterministic checks govern dependencies and eligibility, and the brief passes unresolved issues to a qualified professional. OpenAI integration and retrieval wiring exist; live service evaluation is a next step. The source refresh needs hardening; do not describe an unrestricted live SEAI API or successful automatic crawl as demonstrated.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Governance (35 seconds). The MVP includes role/ownership access, configurable retention, deletion requests, audit records and saved versioned reports. These are product controls, not a claim of GDPR certification or completed independent security review. Public scheme data is separated from private profiles. BER certificate evidence/manual inputs are supported; advisory reports are excluded. Live MPRN lookup is not available. Estimated uplift is not a DEAP assessment. Sources: https://www.seai.ie/ber/new-simplified-scale ; https://www.seai.ie/ber/support-for-ber-assessors/deap . New scale applies from 24 May 2026; old certificate labels must not be silently relabelled.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MVP status (30 seconds). Demonstrate the local homeowner flow, funding comparison and saved PDF if time permits. Prepare screenshots or this deck as backup. Do not rely on a live API call. Cloud deployment, independently validated BER projections and production-ready source ingestion are not yet demonstrated. These status statements describe the prototype, not production certification.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Commercial opportunity (25 seconds). Homeowners are the primary users. The proposed initial payer is an organisation receiving better-prepared enquiries. Subscription and per-case models are hypotheses to test. No paying customers, revenue, conversion uplift or committed partners are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proposal (30 seconds). The six-week plan and cohort are proposed, not secured. First review the rules with an adviser, then observe consenting homeowners using the product, then evaluate clarity, preparation time and factual errors. Agree acceptance criteria with the pilot partner before recruiting. Technical and data-protection review precede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a:p xmlns:a="http://schemas.openxmlformats.org/drawingml/2006/main">
            <a:r>
              <a:t/>
            </a:r>
            <a:endParaRPr/>
          </a:p>
          <a:p xmlns:a="http://schemas.openxmlformats.org/drawingml/2006/main">
            <a:r>
              <a:t>Background photograph generated with OpenAI image generation for this presentation, September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811dd163fd49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c3381beaf14c4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b2611e3a4140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1268afa2b34a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3e802c75e647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8fafd5cfd542d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28f441a02c047f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6662887b0c24d6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e51f7f430a48c4" /><Relationship Type="http://schemas.openxmlformats.org/officeDocument/2006/relationships/slideLayout" Target="/ppt/slideLayouts/slideLayout1.xml" Id="Rfb139ccfafec43dc" /><Relationship Type="http://schemas.openxmlformats.org/officeDocument/2006/relationships/slideLayout" Target="/ppt/slideLayouts/slideLayout2.xml" Id="R7509018524bb4427" /><Relationship Type="http://schemas.openxmlformats.org/officeDocument/2006/relationships/slideLayout" Target="/ppt/slideLayouts/slideLayout3.xml" Id="Rbde4b2bd0aa645ef" /><Relationship Type="http://schemas.openxmlformats.org/officeDocument/2006/relationships/slideLayout" Target="/ppt/slideLayouts/slideLayout4.xml" Id="R9e471a5739704751" /><Relationship Type="http://schemas.openxmlformats.org/officeDocument/2006/relationships/slideLayout" Target="/ppt/slideLayouts/slideLayout5.xml" Id="Rf3db8bd447764992" /><Relationship Type="http://schemas.openxmlformats.org/officeDocument/2006/relationships/slideLayout" Target="/ppt/slideLayouts/slideLayout6.xml" Id="R900907f148b249f6" /><Relationship Type="http://schemas.openxmlformats.org/officeDocument/2006/relationships/slideLayout" Target="/ppt/slideLayouts/slideLayout7.xml" Id="Rfba096c9d190448e" /><Relationship Type="http://schemas.openxmlformats.org/officeDocument/2006/relationships/slideLayout" Target="/ppt/slideLayouts/slideLayout8.xml" Id="Ra7ce93956ac442d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139ccfafec43dc"/>
    <p:sldLayoutId xmlns:r="http://schemas.openxmlformats.org/officeDocument/2006/relationships" id="2147483650" r:id="R7509018524bb4427"/>
    <p:sldLayoutId xmlns:r="http://schemas.openxmlformats.org/officeDocument/2006/relationships" id="2147483651" r:id="Rbde4b2bd0aa645ef"/>
    <p:sldLayoutId xmlns:r="http://schemas.openxmlformats.org/officeDocument/2006/relationships" id="2147483652" r:id="R9e471a5739704751"/>
    <p:sldLayoutId xmlns:r="http://schemas.openxmlformats.org/officeDocument/2006/relationships" id="2147483653" r:id="Rf3db8bd447764992"/>
    <p:sldLayoutId xmlns:r="http://schemas.openxmlformats.org/officeDocument/2006/relationships" id="2147483654" r:id="R900907f148b249f6"/>
    <p:sldLayoutId xmlns:r="http://schemas.openxmlformats.org/officeDocument/2006/relationships" id="2147483655" r:id="Rfba096c9d190448e"/>
    <p:sldLayoutId xmlns:r="http://schemas.openxmlformats.org/officeDocument/2006/relationships" id="2147483656" r:id="Ra7ce93956ac442df"/>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4235349bdb4076" /><Relationship Type="http://schemas.openxmlformats.org/officeDocument/2006/relationships/image" Target="/ppt/media/image.png" Id="R14144948a5a7409b" /><Relationship Type="http://schemas.openxmlformats.org/officeDocument/2006/relationships/notesSlide" Target="/ppt/notesSlides/notesSlide1.xml" Id="Ra005237e768648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04419a22e949df" /><Relationship Type="http://schemas.openxmlformats.org/officeDocument/2006/relationships/notesSlide" Target="/ppt/notesSlides/notesSlide2.xml" Id="Re73dc93d134f450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d5881b1b9f4ace" /><Relationship Type="http://schemas.openxmlformats.org/officeDocument/2006/relationships/notesSlide" Target="/ppt/notesSlides/notesSlide3.xml" Id="R80ca7e229e7347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86b833d2f564e53" /><Relationship Type="http://schemas.openxmlformats.org/officeDocument/2006/relationships/notesSlide" Target="/ppt/notesSlides/notesSlide4.xml" Id="Rb3516926bce044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9d0375509dd4312" /><Relationship Type="http://schemas.openxmlformats.org/officeDocument/2006/relationships/notesSlide" Target="/ppt/notesSlides/notesSlide5.xml" Id="Rdcacdb9f757f4c9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fce8660e404656" /><Relationship Type="http://schemas.openxmlformats.org/officeDocument/2006/relationships/image" Target="/ppt/media/image2.png" Id="Rd1502e8ac8db4be3" /><Relationship Type="http://schemas.openxmlformats.org/officeDocument/2006/relationships/image" Target="/ppt/media/image3.png" Id="Rd8845953e7db4dfe" /><Relationship Type="http://schemas.openxmlformats.org/officeDocument/2006/relationships/notesSlide" Target="/ppt/notesSlides/notesSlide6.xml" Id="R0e5f0c7ee2654b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bca49aa18404afc" /><Relationship Type="http://schemas.openxmlformats.org/officeDocument/2006/relationships/notesSlide" Target="/ppt/notesSlides/notesSlide7.xml" Id="Rcae4b3ccc76a4a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a7da7625514911" /><Relationship Type="http://schemas.openxmlformats.org/officeDocument/2006/relationships/notesSlide" Target="/ppt/notesSlides/notesSlide8.xml" Id="Rd53fb512002741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f8c7240a4a5453b" /><Relationship Type="http://schemas.openxmlformats.org/officeDocument/2006/relationships/notesSlide" Target="/ppt/notesSlides/notesSlide9.xml" Id="R8a8631a761b345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7d49d741c6749dd" /><Relationship Type="http://schemas.openxmlformats.org/officeDocument/2006/relationships/notesSlide" Target="/ppt/notesSlides/notesSlide10.xml" Id="R7c6d851c450d48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cfc0f0c994642e7" /><Relationship Type="http://schemas.openxmlformats.org/officeDocument/2006/relationships/notesSlide" Target="/ppt/notesSlides/notesSlide11.xml" Id="R65c0de5b267a42c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97114818de4aa6" /><Relationship Type="http://schemas.openxmlformats.org/officeDocument/2006/relationships/image" Target="/ppt/media/image4.png" Id="Rdae5771693c54791" /><Relationship Type="http://schemas.openxmlformats.org/officeDocument/2006/relationships/notesSlide" Target="/ppt/notesSlides/notesSlide12.xml" Id="Ra3a104cee735431b" /></Relationships>
</file>

<file path=ppt/slides/slide1.xml><?xml version="1.0" encoding="utf-8"?>
<p:sld xmlns:p="http://schemas.openxmlformats.org/presentationml/2006/main">
  <p:cSld>
    <p:bg>
      <p:bgPr>
        <a:solidFill xmlns:a="http://schemas.openxmlformats.org/drawingml/2006/main">
          <a:srgbClr val="0D3B2E"/>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4144948a5a7409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2827A59-FA34-4E13-8899-1BEB83426B62}"/>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D3B2E">
              <a:alpha val="85098"/>
            </a:srgbClr>
          </a:solidFill>
          <a:ln xmlns:a="http://schemas.openxmlformats.org/drawingml/2006/main" w="0">
            <a:solidFill>
              <a:srgbClr val="0D3B2E">
                <a:alpha val="85098"/>
              </a:srgbClr>
            </a:solidFill>
          </a:ln>
        </p:spPr>
      </p:sp>
      <p:sp>
        <p:nvSpPr>
          <p:cNvPr id="3" name="">
            <a:extLst xmlns:a="http://schemas.openxmlformats.org/drawingml/2006/main">
              <a:ext uri="{FF2B5EF4-FFF2-40B4-BE49-F238E27FC236}">
                <a16:creationId xmlns:a16="http://schemas.microsoft.com/office/drawing/2014/main" id="{64D0BA87-CBF6-4C25-B288-7FA465897216}"/>
              </a:ext>
            </a:extLst>
          </p:cNvPr>
          <p:cNvSpPr>
            <a:spLocks xmlns:a="http://schemas.openxmlformats.org/drawingml/2006/main" noGrp="1"/>
          </p:cNvSpPr>
          <p:nvPr/>
        </p:nvSpPr>
        <p:spPr>
          <a:xfrm xmlns:a="http://schemas.openxmlformats.org/drawingml/2006/main">
            <a:off x="495300" y="552450"/>
            <a:ext cx="198120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AI NATIONAL CHALLENGE</a:t>
            </a:r>
          </a:p>
        </p:txBody>
      </p:sp>
      <p:sp>
        <p:nvSpPr>
          <p:cNvPr id="4" name="">
            <a:extLst xmlns:a="http://schemas.openxmlformats.org/drawingml/2006/main">
              <a:ext uri="{FF2B5EF4-FFF2-40B4-BE49-F238E27FC236}">
                <a16:creationId xmlns:a16="http://schemas.microsoft.com/office/drawing/2014/main" id="{3615CEA2-9852-4BC1-B29F-BC386B2C9382}"/>
              </a:ext>
            </a:extLst>
          </p:cNvPr>
          <p:cNvSpPr>
            <a:spLocks xmlns:a="http://schemas.openxmlformats.org/drawingml/2006/main" noGrp="1"/>
          </p:cNvSpPr>
          <p:nvPr/>
        </p:nvSpPr>
        <p:spPr>
          <a:xfrm xmlns:a="http://schemas.openxmlformats.org/drawingml/2006/main">
            <a:off x="495300" y="1447800"/>
            <a:ext cx="5905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Retrofit</a:t>
            </a:r>
          </a:p>
          <a:p xmlns:a="http://schemas.openxmlformats.org/drawingml/2006/main">
            <a:pPr>
              <a:defRPr sz="5250" b="1">
                <a:solidFill>
                  <a:srgbClr val="FFFFFF"/>
                </a:solidFill>
                <a:latin typeface="Helvetica Neue"/>
                <a:ea typeface="Helvetica Neue"/>
                <a:cs typeface="Helvetica Neue"/>
              </a:defRPr>
            </a:pPr>
            <a:r>
              <a:rPr sz="5250" b="1">
                <a:solidFill>
                  <a:srgbClr val="FFFFFF"/>
                </a:solidFill>
                <a:latin typeface="Helvetica Neue"/>
                <a:ea typeface="Helvetica Neue"/>
                <a:cs typeface="Helvetica Neue"/>
              </a:rPr>
              <a:t>Pathfinder</a:t>
            </a:r>
          </a:p>
        </p:txBody>
      </p:sp>
      <p:sp>
        <p:nvSpPr>
          <p:cNvPr id="5" name="">
            <a:extLst xmlns:a="http://schemas.openxmlformats.org/drawingml/2006/main">
              <a:ext uri="{FF2B5EF4-FFF2-40B4-BE49-F238E27FC236}">
                <a16:creationId xmlns:a16="http://schemas.microsoft.com/office/drawing/2014/main" id="{057B6E3B-909C-44F3-82CC-1B9C524ADC2A}"/>
              </a:ext>
            </a:extLst>
          </p:cNvPr>
          <p:cNvSpPr>
            <a:spLocks xmlns:a="http://schemas.openxmlformats.org/drawingml/2006/main" noGrp="1"/>
          </p:cNvSpPr>
          <p:nvPr/>
        </p:nvSpPr>
        <p:spPr>
          <a:xfrm xmlns:a="http://schemas.openxmlformats.org/drawingml/2006/main">
            <a:off x="523875" y="3638550"/>
            <a:ext cx="542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A clearer route to a warmer home</a:t>
            </a:r>
          </a:p>
        </p:txBody>
      </p:sp>
      <p:sp>
        <p:nvSpPr>
          <p:cNvPr id="6" name="">
            <a:extLst xmlns:a="http://schemas.openxmlformats.org/drawingml/2006/main">
              <a:ext uri="{FF2B5EF4-FFF2-40B4-BE49-F238E27FC236}">
                <a16:creationId xmlns:a16="http://schemas.microsoft.com/office/drawing/2014/main" id="{E4108DE7-F696-41F7-8878-5FF99CF4840D}"/>
              </a:ext>
            </a:extLst>
          </p:cNvPr>
          <p:cNvSpPr>
            <a:spLocks xmlns:a="http://schemas.openxmlformats.org/drawingml/2006/main" noGrp="1"/>
          </p:cNvSpPr>
          <p:nvPr/>
        </p:nvSpPr>
        <p:spPr>
          <a:xfrm xmlns:a="http://schemas.openxmlformats.org/drawingml/2006/main">
            <a:off x="523875" y="4333875"/>
            <a:ext cx="857250" cy="0"/>
          </a:xfrm>
          <a:prstGeom xmlns:a="http://schemas.openxmlformats.org/drawingml/2006/main" prst="line">
            <a:avLst/>
          </a:prstGeom>
          <a:noFill xmlns:a="http://schemas.openxmlformats.org/drawingml/2006/main"/>
          <a:ln xmlns:a="http://schemas.openxmlformats.org/drawingml/2006/main" w="47625">
            <a:solidFill>
              <a:srgbClr val="A7D46F"/>
            </a:solidFill>
            <a:prstDash val="solid"/>
          </a:ln>
        </p:spPr>
      </p:sp>
      <p:sp>
        <p:nvSpPr>
          <p:cNvPr id="7" name="">
            <a:extLst xmlns:a="http://schemas.openxmlformats.org/drawingml/2006/main">
              <a:ext uri="{FF2B5EF4-FFF2-40B4-BE49-F238E27FC236}">
                <a16:creationId xmlns:a16="http://schemas.microsoft.com/office/drawing/2014/main" id="{2288B413-8365-4CE6-87BE-5511F8C51F09}"/>
              </a:ext>
            </a:extLst>
          </p:cNvPr>
          <p:cNvSpPr>
            <a:spLocks xmlns:a="http://schemas.openxmlformats.org/drawingml/2006/main" noGrp="1"/>
          </p:cNvSpPr>
          <p:nvPr/>
        </p:nvSpPr>
        <p:spPr>
          <a:xfrm xmlns:a="http://schemas.openxmlformats.org/drawingml/2006/main">
            <a:off x="523875" y="45529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D9E8DE"/>
                </a:solidFill>
                <a:latin typeface="Helvetica Neue"/>
                <a:ea typeface="Helvetica Neue"/>
                <a:cs typeface="Helvetica Neue"/>
              </a:defRPr>
            </a:pPr>
            <a:r>
              <a:rPr sz="1575" b="0">
                <a:solidFill>
                  <a:srgbClr val="D9E8DE"/>
                </a:solidFill>
                <a:latin typeface="Helvetica Neue"/>
                <a:ea typeface="Helvetica Neue"/>
                <a:cs typeface="Helvetica Neue"/>
              </a:rPr>
              <a:t>Ireland's homeowner retrofit planning agent</a:t>
            </a:r>
          </a:p>
        </p:txBody>
      </p:sp>
      <p:sp>
        <p:nvSpPr>
          <p:cNvPr id="8" name="">
            <a:extLst xmlns:a="http://schemas.openxmlformats.org/drawingml/2006/main">
              <a:ext uri="{FF2B5EF4-FFF2-40B4-BE49-F238E27FC236}">
                <a16:creationId xmlns:a16="http://schemas.microsoft.com/office/drawing/2014/main" id="{0858A29B-47CA-44A4-9E5B-903F4702BC37}"/>
              </a:ext>
            </a:extLst>
          </p:cNvPr>
          <p:cNvSpPr>
            <a:spLocks xmlns:a="http://schemas.openxmlformats.org/drawingml/2006/main" noGrp="1"/>
          </p:cNvSpPr>
          <p:nvPr/>
        </p:nvSpPr>
        <p:spPr>
          <a:xfrm xmlns:a="http://schemas.openxmlformats.org/drawingml/2006/main">
            <a:off x="523875" y="61531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1">
                <a:solidFill>
                  <a:srgbClr val="D9E8DE"/>
                </a:solidFill>
                <a:latin typeface="Helvetica Neue"/>
                <a:ea typeface="Helvetica Neue"/>
                <a:cs typeface="Helvetica Neue"/>
              </a:defRPr>
            </a:pPr>
            <a:r>
              <a:rPr sz="975" b="1">
                <a:solidFill>
                  <a:srgbClr val="D9E8DE"/>
                </a:solidFill>
                <a:latin typeface="Helvetica Neue"/>
                <a:ea typeface="Helvetica Neue"/>
                <a:cs typeface="Helvetica Neue"/>
              </a:rPr>
              <a:t>VINAY NAGRANI  •  DAVID BODIU  •  GEORGE STERPU</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4C45A71-B108-4BF2-92EE-DB256FDB9822}"/>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THE PROBLEM</a:t>
            </a:r>
          </a:p>
        </p:txBody>
      </p:sp>
      <p:sp>
        <p:nvSpPr>
          <p:cNvPr id="2" name="">
            <a:extLst xmlns:a="http://schemas.openxmlformats.org/drawingml/2006/main">
              <a:ext uri="{FF2B5EF4-FFF2-40B4-BE49-F238E27FC236}">
                <a16:creationId xmlns:a16="http://schemas.microsoft.com/office/drawing/2014/main" id="{0182C2E5-35F1-4F7C-9652-A9E510D02251}"/>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Homeowners face three linked decisions</a:t>
            </a:r>
          </a:p>
        </p:txBody>
      </p:sp>
      <p:sp>
        <p:nvSpPr>
          <p:cNvPr id="3" name="">
            <a:extLst xmlns:a="http://schemas.openxmlformats.org/drawingml/2006/main">
              <a:ext uri="{FF2B5EF4-FFF2-40B4-BE49-F238E27FC236}">
                <a16:creationId xmlns:a16="http://schemas.microsoft.com/office/drawing/2014/main" id="{4CBAA482-5E95-43AE-81A7-7BB4158B670E}"/>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E0C79F7A-185F-40F7-894A-223D014D2321}"/>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17AC20C-2F8D-4D2B-B795-F531E8285EC9}"/>
              </a:ext>
            </a:extLst>
          </p:cNvPr>
          <p:cNvSpPr>
            <a:spLocks xmlns:a="http://schemas.openxmlformats.org/drawingml/2006/main" noGrp="1"/>
          </p:cNvSpPr>
          <p:nvPr/>
        </p:nvSpPr>
        <p:spPr>
          <a:xfrm xmlns:a="http://schemas.openxmlformats.org/drawingml/2006/main">
            <a:off x="457200" y="1790700"/>
            <a:ext cx="3333750" cy="0"/>
          </a:xfrm>
          <a:prstGeom xmlns:a="http://schemas.openxmlformats.org/drawingml/2006/main" prst="line">
            <a:avLst/>
          </a:prstGeom>
          <a:noFill xmlns:a="http://schemas.openxmlformats.org/drawingml/2006/main"/>
          <a:ln xmlns:a="http://schemas.openxmlformats.org/drawingml/2006/main" w="47625">
            <a:solidFill>
              <a:srgbClr val="0D3B2E"/>
            </a:solidFill>
            <a:prstDash val="solid"/>
          </a:ln>
        </p:spPr>
      </p:sp>
      <p:sp>
        <p:nvSpPr>
          <p:cNvPr id="6" name="">
            <a:extLst xmlns:a="http://schemas.openxmlformats.org/drawingml/2006/main">
              <a:ext uri="{FF2B5EF4-FFF2-40B4-BE49-F238E27FC236}">
                <a16:creationId xmlns:a16="http://schemas.microsoft.com/office/drawing/2014/main" id="{C1FB279D-FF41-4254-B3C7-0DDABD942AE0}"/>
              </a:ext>
            </a:extLst>
          </p:cNvPr>
          <p:cNvSpPr>
            <a:spLocks xmlns:a="http://schemas.openxmlformats.org/drawingml/2006/main" noGrp="1"/>
          </p:cNvSpPr>
          <p:nvPr/>
        </p:nvSpPr>
        <p:spPr>
          <a:xfrm xmlns:a="http://schemas.openxmlformats.org/drawingml/2006/main">
            <a:off x="4572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5E6C66"/>
                </a:solidFill>
                <a:latin typeface="Helvetica Neue"/>
                <a:ea typeface="Helvetica Neue"/>
                <a:cs typeface="Helvetica Neue"/>
              </a:defRPr>
            </a:pPr>
            <a:r>
              <a:rPr sz="1500" b="1">
                <a:solidFill>
                  <a:srgbClr val="5E6C66"/>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574B5B41-6667-443A-A94F-1AF46D888ED7}"/>
              </a:ext>
            </a:extLst>
          </p:cNvPr>
          <p:cNvSpPr>
            <a:spLocks xmlns:a="http://schemas.openxmlformats.org/drawingml/2006/main" noGrp="1"/>
          </p:cNvSpPr>
          <p:nvPr/>
        </p:nvSpPr>
        <p:spPr>
          <a:xfrm xmlns:a="http://schemas.openxmlformats.org/drawingml/2006/main">
            <a:off x="1104900" y="195262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D3B2E"/>
                </a:solidFill>
                <a:latin typeface="Helvetica Neue"/>
                <a:ea typeface="Helvetica Neue"/>
                <a:cs typeface="Helvetica Neue"/>
              </a:defRPr>
            </a:pPr>
            <a:r>
              <a:rPr sz="1650" b="1">
                <a:solidFill>
                  <a:srgbClr val="0D3B2E"/>
                </a:solidFill>
                <a:latin typeface="Helvetica Neue"/>
                <a:ea typeface="Helvetica Neue"/>
                <a:cs typeface="Helvetica Neue"/>
              </a:rPr>
              <a:t>ORDER</a:t>
            </a:r>
          </a:p>
        </p:txBody>
      </p:sp>
      <p:sp>
        <p:nvSpPr>
          <p:cNvPr id="8" name="">
            <a:extLst xmlns:a="http://schemas.openxmlformats.org/drawingml/2006/main">
              <a:ext uri="{FF2B5EF4-FFF2-40B4-BE49-F238E27FC236}">
                <a16:creationId xmlns:a16="http://schemas.microsoft.com/office/drawing/2014/main" id="{81F6F1E9-5595-48E7-806C-E4FBE5708CBE}"/>
              </a:ext>
            </a:extLst>
          </p:cNvPr>
          <p:cNvSpPr>
            <a:spLocks xmlns:a="http://schemas.openxmlformats.org/drawingml/2006/main" noGrp="1"/>
          </p:cNvSpPr>
          <p:nvPr/>
        </p:nvSpPr>
        <p:spPr>
          <a:xfrm xmlns:a="http://schemas.openxmlformats.org/drawingml/2006/main">
            <a:off x="457200" y="26479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31E"/>
                </a:solidFill>
                <a:latin typeface="Helvetica Neue"/>
                <a:ea typeface="Helvetica Neue"/>
                <a:cs typeface="Helvetica Neue"/>
              </a:defRPr>
            </a:pPr>
            <a:r>
              <a:rPr sz="2250" b="1">
                <a:solidFill>
                  <a:srgbClr val="15231E"/>
                </a:solidFill>
                <a:latin typeface="Helvetica Neue"/>
                <a:ea typeface="Helvetica Neue"/>
                <a:cs typeface="Helvetica Neue"/>
              </a:rPr>
              <a:t>Which upgrade comes next?</a:t>
            </a:r>
          </a:p>
        </p:txBody>
      </p:sp>
      <p:sp>
        <p:nvSpPr>
          <p:cNvPr id="9" name="">
            <a:extLst xmlns:a="http://schemas.openxmlformats.org/drawingml/2006/main">
              <a:ext uri="{FF2B5EF4-FFF2-40B4-BE49-F238E27FC236}">
                <a16:creationId xmlns:a16="http://schemas.microsoft.com/office/drawing/2014/main" id="{3090AEF5-C2A5-4038-962C-C0BBD4134FAF}"/>
              </a:ext>
            </a:extLst>
          </p:cNvPr>
          <p:cNvSpPr>
            <a:spLocks xmlns:a="http://schemas.openxmlformats.org/drawingml/2006/main" noGrp="1"/>
          </p:cNvSpPr>
          <p:nvPr/>
        </p:nvSpPr>
        <p:spPr>
          <a:xfrm xmlns:a="http://schemas.openxmlformats.org/drawingml/2006/main">
            <a:off x="457200" y="34766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C66"/>
                </a:solidFill>
                <a:latin typeface="Helvetica Neue"/>
                <a:ea typeface="Helvetica Neue"/>
                <a:cs typeface="Helvetica Neue"/>
              </a:defRPr>
            </a:pPr>
            <a:r>
              <a:rPr sz="1650" b="0">
                <a:solidFill>
                  <a:srgbClr val="5E6C66"/>
                </a:solidFill>
                <a:latin typeface="Helvetica Neue"/>
                <a:ea typeface="Helvetica Neue"/>
                <a:cs typeface="Helvetica Neue"/>
              </a:rPr>
              <a:t>Building condition and dependencies determine the safe sequence.</a:t>
            </a:r>
          </a:p>
        </p:txBody>
      </p:sp>
      <p:sp>
        <p:nvSpPr>
          <p:cNvPr id="10" name="">
            <a:extLst xmlns:a="http://schemas.openxmlformats.org/drawingml/2006/main">
              <a:ext uri="{FF2B5EF4-FFF2-40B4-BE49-F238E27FC236}">
                <a16:creationId xmlns:a16="http://schemas.microsoft.com/office/drawing/2014/main" id="{3AD6C7AE-0400-4B3E-8847-B6A640C398E2}"/>
              </a:ext>
            </a:extLst>
          </p:cNvPr>
          <p:cNvSpPr>
            <a:spLocks xmlns:a="http://schemas.openxmlformats.org/drawingml/2006/main" noGrp="1"/>
          </p:cNvSpPr>
          <p:nvPr/>
        </p:nvSpPr>
        <p:spPr>
          <a:xfrm xmlns:a="http://schemas.openxmlformats.org/drawingml/2006/main">
            <a:off x="4267200" y="1790700"/>
            <a:ext cx="3333750" cy="0"/>
          </a:xfrm>
          <a:prstGeom xmlns:a="http://schemas.openxmlformats.org/drawingml/2006/main" prst="line">
            <a:avLst/>
          </a:prstGeom>
          <a:noFill xmlns:a="http://schemas.openxmlformats.org/drawingml/2006/main"/>
          <a:ln xmlns:a="http://schemas.openxmlformats.org/drawingml/2006/main" w="47625">
            <a:solidFill>
              <a:srgbClr val="E78363"/>
            </a:solidFill>
            <a:prstDash val="solid"/>
          </a:ln>
        </p:spPr>
      </p:sp>
      <p:sp>
        <p:nvSpPr>
          <p:cNvPr id="11" name="">
            <a:extLst xmlns:a="http://schemas.openxmlformats.org/drawingml/2006/main">
              <a:ext uri="{FF2B5EF4-FFF2-40B4-BE49-F238E27FC236}">
                <a16:creationId xmlns:a16="http://schemas.microsoft.com/office/drawing/2014/main" id="{F7E0EE59-C127-4C39-A8A5-6A20B6E8465A}"/>
              </a:ext>
            </a:extLst>
          </p:cNvPr>
          <p:cNvSpPr>
            <a:spLocks xmlns:a="http://schemas.openxmlformats.org/drawingml/2006/main" noGrp="1"/>
          </p:cNvSpPr>
          <p:nvPr/>
        </p:nvSpPr>
        <p:spPr>
          <a:xfrm xmlns:a="http://schemas.openxmlformats.org/drawingml/2006/main">
            <a:off x="42672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5E6C66"/>
                </a:solidFill>
                <a:latin typeface="Helvetica Neue"/>
                <a:ea typeface="Helvetica Neue"/>
                <a:cs typeface="Helvetica Neue"/>
              </a:defRPr>
            </a:pPr>
            <a:r>
              <a:rPr sz="1500" b="1">
                <a:solidFill>
                  <a:srgbClr val="5E6C66"/>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B17665B9-FA92-4B0D-BCE9-C0489B1DE1CC}"/>
              </a:ext>
            </a:extLst>
          </p:cNvPr>
          <p:cNvSpPr>
            <a:spLocks xmlns:a="http://schemas.openxmlformats.org/drawingml/2006/main" noGrp="1"/>
          </p:cNvSpPr>
          <p:nvPr/>
        </p:nvSpPr>
        <p:spPr>
          <a:xfrm xmlns:a="http://schemas.openxmlformats.org/drawingml/2006/main">
            <a:off x="4914900" y="195262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D3B2E"/>
                </a:solidFill>
                <a:latin typeface="Helvetica Neue"/>
                <a:ea typeface="Helvetica Neue"/>
                <a:cs typeface="Helvetica Neue"/>
              </a:defRPr>
            </a:pPr>
            <a:r>
              <a:rPr sz="1650" b="1">
                <a:solidFill>
                  <a:srgbClr val="0D3B2E"/>
                </a:solidFill>
                <a:latin typeface="Helvetica Neue"/>
                <a:ea typeface="Helvetica Neue"/>
                <a:cs typeface="Helvetica Neue"/>
              </a:rPr>
              <a:t>COST</a:t>
            </a:r>
          </a:p>
        </p:txBody>
      </p:sp>
      <p:sp>
        <p:nvSpPr>
          <p:cNvPr id="13" name="">
            <a:extLst xmlns:a="http://schemas.openxmlformats.org/drawingml/2006/main">
              <a:ext uri="{FF2B5EF4-FFF2-40B4-BE49-F238E27FC236}">
                <a16:creationId xmlns:a16="http://schemas.microsoft.com/office/drawing/2014/main" id="{E5DBAF31-D32F-4EDC-9B3A-027E55D11530}"/>
              </a:ext>
            </a:extLst>
          </p:cNvPr>
          <p:cNvSpPr>
            <a:spLocks xmlns:a="http://schemas.openxmlformats.org/drawingml/2006/main" noGrp="1"/>
          </p:cNvSpPr>
          <p:nvPr/>
        </p:nvSpPr>
        <p:spPr>
          <a:xfrm xmlns:a="http://schemas.openxmlformats.org/drawingml/2006/main">
            <a:off x="4267200" y="26479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31E"/>
                </a:solidFill>
                <a:latin typeface="Helvetica Neue"/>
                <a:ea typeface="Helvetica Neue"/>
                <a:cs typeface="Helvetica Neue"/>
              </a:defRPr>
            </a:pPr>
            <a:r>
              <a:rPr sz="2250" b="1">
                <a:solidFill>
                  <a:srgbClr val="15231E"/>
                </a:solidFill>
                <a:latin typeface="Helvetica Neue"/>
                <a:ea typeface="Helvetica Neue"/>
                <a:cs typeface="Helvetica Neue"/>
              </a:rPr>
              <a:t>What will I actually pay?</a:t>
            </a:r>
          </a:p>
        </p:txBody>
      </p:sp>
      <p:sp>
        <p:nvSpPr>
          <p:cNvPr id="14" name="">
            <a:extLst xmlns:a="http://schemas.openxmlformats.org/drawingml/2006/main">
              <a:ext uri="{FF2B5EF4-FFF2-40B4-BE49-F238E27FC236}">
                <a16:creationId xmlns:a16="http://schemas.microsoft.com/office/drawing/2014/main" id="{7C23E00C-FACB-49A7-8322-765472881D20}"/>
              </a:ext>
            </a:extLst>
          </p:cNvPr>
          <p:cNvSpPr>
            <a:spLocks xmlns:a="http://schemas.openxmlformats.org/drawingml/2006/main" noGrp="1"/>
          </p:cNvSpPr>
          <p:nvPr/>
        </p:nvSpPr>
        <p:spPr>
          <a:xfrm xmlns:a="http://schemas.openxmlformats.org/drawingml/2006/main">
            <a:off x="4267200" y="34766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C66"/>
                </a:solidFill>
                <a:latin typeface="Helvetica Neue"/>
                <a:ea typeface="Helvetica Neue"/>
                <a:cs typeface="Helvetica Neue"/>
              </a:defRPr>
            </a:pPr>
            <a:r>
              <a:rPr sz="1650" b="0">
                <a:solidFill>
                  <a:srgbClr val="5E6C66"/>
                </a:solidFill>
                <a:latin typeface="Helvetica Neue"/>
                <a:ea typeface="Helvetica Neue"/>
                <a:cs typeface="Helvetica Neue"/>
              </a:rPr>
              <a:t>Costs, grant routes and eligibility must be compared on the same basis.</a:t>
            </a:r>
          </a:p>
        </p:txBody>
      </p:sp>
      <p:sp>
        <p:nvSpPr>
          <p:cNvPr id="15" name="">
            <a:extLst xmlns:a="http://schemas.openxmlformats.org/drawingml/2006/main">
              <a:ext uri="{FF2B5EF4-FFF2-40B4-BE49-F238E27FC236}">
                <a16:creationId xmlns:a16="http://schemas.microsoft.com/office/drawing/2014/main" id="{D526B738-3991-4328-AD8C-2CE8753E1702}"/>
              </a:ext>
            </a:extLst>
          </p:cNvPr>
          <p:cNvSpPr>
            <a:spLocks xmlns:a="http://schemas.openxmlformats.org/drawingml/2006/main" noGrp="1"/>
          </p:cNvSpPr>
          <p:nvPr/>
        </p:nvSpPr>
        <p:spPr>
          <a:xfrm xmlns:a="http://schemas.openxmlformats.org/drawingml/2006/main">
            <a:off x="8077200" y="1790700"/>
            <a:ext cx="3333750" cy="0"/>
          </a:xfrm>
          <a:prstGeom xmlns:a="http://schemas.openxmlformats.org/drawingml/2006/main" prst="line">
            <a:avLst/>
          </a:prstGeom>
          <a:noFill xmlns:a="http://schemas.openxmlformats.org/drawingml/2006/main"/>
          <a:ln xmlns:a="http://schemas.openxmlformats.org/drawingml/2006/main" w="47625">
            <a:solidFill>
              <a:srgbClr val="0D3B2E"/>
            </a:solidFill>
            <a:prstDash val="solid"/>
          </a:ln>
        </p:spPr>
      </p:sp>
      <p:sp>
        <p:nvSpPr>
          <p:cNvPr id="16" name="">
            <a:extLst xmlns:a="http://schemas.openxmlformats.org/drawingml/2006/main">
              <a:ext uri="{FF2B5EF4-FFF2-40B4-BE49-F238E27FC236}">
                <a16:creationId xmlns:a16="http://schemas.microsoft.com/office/drawing/2014/main" id="{629FF1C5-C751-44C0-B7E7-7A709057B097}"/>
              </a:ext>
            </a:extLst>
          </p:cNvPr>
          <p:cNvSpPr>
            <a:spLocks xmlns:a="http://schemas.openxmlformats.org/drawingml/2006/main" noGrp="1"/>
          </p:cNvSpPr>
          <p:nvPr/>
        </p:nvSpPr>
        <p:spPr>
          <a:xfrm xmlns:a="http://schemas.openxmlformats.org/drawingml/2006/main">
            <a:off x="8077200" y="1952625"/>
            <a:ext cx="52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5E6C66"/>
                </a:solidFill>
                <a:latin typeface="Helvetica Neue"/>
                <a:ea typeface="Helvetica Neue"/>
                <a:cs typeface="Helvetica Neue"/>
              </a:defRPr>
            </a:pPr>
            <a:r>
              <a:rPr sz="1500" b="1">
                <a:solidFill>
                  <a:srgbClr val="5E6C66"/>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CD42FE86-672D-44F4-B40C-69198CCB0F43}"/>
              </a:ext>
            </a:extLst>
          </p:cNvPr>
          <p:cNvSpPr>
            <a:spLocks xmlns:a="http://schemas.openxmlformats.org/drawingml/2006/main" noGrp="1"/>
          </p:cNvSpPr>
          <p:nvPr/>
        </p:nvSpPr>
        <p:spPr>
          <a:xfrm xmlns:a="http://schemas.openxmlformats.org/drawingml/2006/main">
            <a:off x="8724900" y="195262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0D3B2E"/>
                </a:solidFill>
                <a:latin typeface="Helvetica Neue"/>
                <a:ea typeface="Helvetica Neue"/>
                <a:cs typeface="Helvetica Neue"/>
              </a:defRPr>
            </a:pPr>
            <a:r>
              <a:rPr sz="1650" b="1">
                <a:solidFill>
                  <a:srgbClr val="0D3B2E"/>
                </a:solidFill>
                <a:latin typeface="Helvetica Neue"/>
                <a:ea typeface="Helvetica Neue"/>
                <a:cs typeface="Helvetica Neue"/>
              </a:rPr>
              <a:t>CONFIDENCE</a:t>
            </a:r>
          </a:p>
        </p:txBody>
      </p:sp>
      <p:sp>
        <p:nvSpPr>
          <p:cNvPr id="18" name="">
            <a:extLst xmlns:a="http://schemas.openxmlformats.org/drawingml/2006/main">
              <a:ext uri="{FF2B5EF4-FFF2-40B4-BE49-F238E27FC236}">
                <a16:creationId xmlns:a16="http://schemas.microsoft.com/office/drawing/2014/main" id="{15742DD1-5CD7-4249-84AB-6B652F9D1FB0}"/>
              </a:ext>
            </a:extLst>
          </p:cNvPr>
          <p:cNvSpPr>
            <a:spLocks xmlns:a="http://schemas.openxmlformats.org/drawingml/2006/main" noGrp="1"/>
          </p:cNvSpPr>
          <p:nvPr/>
        </p:nvSpPr>
        <p:spPr>
          <a:xfrm xmlns:a="http://schemas.openxmlformats.org/drawingml/2006/main">
            <a:off x="8077200" y="26479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31E"/>
                </a:solidFill>
                <a:latin typeface="Helvetica Neue"/>
                <a:ea typeface="Helvetica Neue"/>
                <a:cs typeface="Helvetica Neue"/>
              </a:defRPr>
            </a:pPr>
            <a:r>
              <a:rPr sz="2250" b="1">
                <a:solidFill>
                  <a:srgbClr val="15231E"/>
                </a:solidFill>
                <a:latin typeface="Helvetica Neue"/>
                <a:ea typeface="Helvetica Neue"/>
                <a:cs typeface="Helvetica Neue"/>
              </a:rPr>
              <a:t>What still needs checking?</a:t>
            </a:r>
          </a:p>
        </p:txBody>
      </p:sp>
      <p:sp>
        <p:nvSpPr>
          <p:cNvPr id="19" name="">
            <a:extLst xmlns:a="http://schemas.openxmlformats.org/drawingml/2006/main">
              <a:ext uri="{FF2B5EF4-FFF2-40B4-BE49-F238E27FC236}">
                <a16:creationId xmlns:a16="http://schemas.microsoft.com/office/drawing/2014/main" id="{6308FD35-4D01-479F-A8F4-7CF9B7BFC4B0}"/>
              </a:ext>
            </a:extLst>
          </p:cNvPr>
          <p:cNvSpPr>
            <a:spLocks xmlns:a="http://schemas.openxmlformats.org/drawingml/2006/main" noGrp="1"/>
          </p:cNvSpPr>
          <p:nvPr/>
        </p:nvSpPr>
        <p:spPr>
          <a:xfrm xmlns:a="http://schemas.openxmlformats.org/drawingml/2006/main">
            <a:off x="8077200" y="3476625"/>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E6C66"/>
                </a:solidFill>
                <a:latin typeface="Helvetica Neue"/>
                <a:ea typeface="Helvetica Neue"/>
                <a:cs typeface="Helvetica Neue"/>
              </a:defRPr>
            </a:pPr>
            <a:r>
              <a:rPr sz="1650" b="0">
                <a:solidFill>
                  <a:srgbClr val="5E6C66"/>
                </a:solidFill>
                <a:latin typeface="Helvetica Neue"/>
                <a:ea typeface="Helvetica Neue"/>
                <a:cs typeface="Helvetica Neue"/>
              </a:rPr>
              <a:t>Missing evidence and technical risks need a clear hand-off.</a:t>
            </a:r>
          </a:p>
        </p:txBody>
      </p:sp>
      <p:sp>
        <p:nvSpPr>
          <p:cNvPr id="20" name="">
            <a:extLst xmlns:a="http://schemas.openxmlformats.org/drawingml/2006/main">
              <a:ext uri="{FF2B5EF4-FFF2-40B4-BE49-F238E27FC236}">
                <a16:creationId xmlns:a16="http://schemas.microsoft.com/office/drawing/2014/main" id="{E59D3766-03CA-4B5C-96BD-D508DE4291E3}"/>
              </a:ext>
            </a:extLst>
          </p:cNvPr>
          <p:cNvSpPr>
            <a:spLocks xmlns:a="http://schemas.openxmlformats.org/drawingml/2006/main" noGrp="1"/>
          </p:cNvSpPr>
          <p:nvPr/>
        </p:nvSpPr>
        <p:spPr>
          <a:xfrm xmlns:a="http://schemas.openxmlformats.org/drawingml/2006/main">
            <a:off x="457200" y="5095875"/>
            <a:ext cx="10953750" cy="742950"/>
          </a:xfrm>
          <a:prstGeom xmlns:a="http://schemas.openxmlformats.org/drawingml/2006/main" prst="roundRect">
            <a:avLst>
              <a:gd name="adj" fmla="val 23077"/>
            </a:avLst>
          </a:prstGeom>
          <a:solidFill xmlns:a="http://schemas.openxmlformats.org/drawingml/2006/main">
            <a:srgbClr val="E8F1EB"/>
          </a:solidFill>
          <a:ln xmlns:a="http://schemas.openxmlformats.org/drawingml/2006/main" w="0">
            <a:solidFill>
              <a:srgbClr val="E8F1EB"/>
            </a:solidFill>
          </a:ln>
        </p:spPr>
      </p:sp>
      <p:sp>
        <p:nvSpPr>
          <p:cNvPr id="21" name="">
            <a:extLst xmlns:a="http://schemas.openxmlformats.org/drawingml/2006/main">
              <a:ext uri="{FF2B5EF4-FFF2-40B4-BE49-F238E27FC236}">
                <a16:creationId xmlns:a16="http://schemas.microsoft.com/office/drawing/2014/main" id="{3E6ADBD6-0B33-4098-81BC-48DF2DF0885C}"/>
              </a:ext>
            </a:extLst>
          </p:cNvPr>
          <p:cNvSpPr>
            <a:spLocks xmlns:a="http://schemas.openxmlformats.org/drawingml/2006/main" noGrp="1"/>
          </p:cNvSpPr>
          <p:nvPr/>
        </p:nvSpPr>
        <p:spPr>
          <a:xfrm xmlns:a="http://schemas.openxmlformats.org/drawingml/2006/main">
            <a:off x="742950" y="52197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0D3B2E"/>
                </a:solidFill>
                <a:latin typeface="Helvetica Neue"/>
                <a:ea typeface="Helvetica Neue"/>
                <a:cs typeface="Helvetica Neue"/>
              </a:defRPr>
            </a:pPr>
            <a:r>
              <a:rPr sz="1875" b="1">
                <a:solidFill>
                  <a:srgbClr val="0D3B2E"/>
                </a:solidFill>
                <a:latin typeface="Helvetica Neue"/>
                <a:ea typeface="Helvetica Neue"/>
                <a:cs typeface="Helvetica Neue"/>
              </a:rPr>
              <a:t>A weak sequence can create rework, unsuitable measures or a budget that no longer fits.</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B946608-D86A-44F9-9B8A-39BF23FDC7B9}"/>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THE HOMEOWNER JOURNEY</a:t>
            </a:r>
          </a:p>
        </p:txBody>
      </p:sp>
      <p:sp>
        <p:nvSpPr>
          <p:cNvPr id="2" name="">
            <a:extLst xmlns:a="http://schemas.openxmlformats.org/drawingml/2006/main">
              <a:ext uri="{FF2B5EF4-FFF2-40B4-BE49-F238E27FC236}">
                <a16:creationId xmlns:a16="http://schemas.microsoft.com/office/drawing/2014/main" id="{69E3406D-F49C-4A46-A9B8-3085FABF5869}"/>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One interview creates a usable next step</a:t>
            </a:r>
          </a:p>
        </p:txBody>
      </p:sp>
      <p:sp>
        <p:nvSpPr>
          <p:cNvPr id="3" name="">
            <a:extLst xmlns:a="http://schemas.openxmlformats.org/drawingml/2006/main">
              <a:ext uri="{FF2B5EF4-FFF2-40B4-BE49-F238E27FC236}">
                <a16:creationId xmlns:a16="http://schemas.microsoft.com/office/drawing/2014/main" id="{C6B6C04D-A30D-4847-BC33-99DFC4DD69DA}"/>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474D5F1C-F7F0-4069-943B-5394FBDCFB4E}"/>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9A99F71B-6171-4191-9AD8-4C55E2F58E0A}"/>
              </a:ext>
            </a:extLst>
          </p:cNvPr>
          <p:cNvSpPr>
            <a:spLocks xmlns:a="http://schemas.openxmlformats.org/drawingml/2006/main" noGrp="1"/>
          </p:cNvSpPr>
          <p:nvPr/>
        </p:nvSpPr>
        <p:spPr>
          <a:xfrm xmlns:a="http://schemas.openxmlformats.org/drawingml/2006/main">
            <a:off x="1143000" y="3276600"/>
            <a:ext cx="9620250" cy="0"/>
          </a:xfrm>
          <a:prstGeom xmlns:a="http://schemas.openxmlformats.org/drawingml/2006/main" prst="line">
            <a:avLst/>
          </a:prstGeom>
          <a:noFill xmlns:a="http://schemas.openxmlformats.org/drawingml/2006/main"/>
          <a:ln xmlns:a="http://schemas.openxmlformats.org/drawingml/2006/main" w="38100">
            <a:solidFill>
              <a:srgbClr val="CDD9D1"/>
            </a:solidFill>
            <a:prstDash val="solid"/>
          </a:ln>
        </p:spPr>
      </p:sp>
      <p:sp>
        <p:nvSpPr>
          <p:cNvPr id="6" name="">
            <a:extLst xmlns:a="http://schemas.openxmlformats.org/drawingml/2006/main">
              <a:ext uri="{FF2B5EF4-FFF2-40B4-BE49-F238E27FC236}">
                <a16:creationId xmlns:a16="http://schemas.microsoft.com/office/drawing/2014/main" id="{F6D7DEAB-DA08-4ABC-9335-E565BCECFA4D}"/>
              </a:ext>
            </a:extLst>
          </p:cNvPr>
          <p:cNvSpPr>
            <a:spLocks xmlns:a="http://schemas.openxmlformats.org/drawingml/2006/main" noGrp="1"/>
          </p:cNvSpPr>
          <p:nvPr/>
        </p:nvSpPr>
        <p:spPr>
          <a:xfrm xmlns:a="http://schemas.openxmlformats.org/drawingml/2006/main">
            <a:off x="685800" y="2571750"/>
            <a:ext cx="781050" cy="781050"/>
          </a:xfrm>
          <a:prstGeom xmlns:a="http://schemas.openxmlformats.org/drawingml/2006/main" prst="roundRect">
            <a:avLst>
              <a:gd name="adj" fmla="val 50000"/>
            </a:avLst>
          </a:prstGeom>
          <a:solidFill xmlns:a="http://schemas.openxmlformats.org/drawingml/2006/main">
            <a:srgbClr val="0D3B2E"/>
          </a:solidFill>
          <a:ln xmlns:a="http://schemas.openxmlformats.org/drawingml/2006/main" w="0">
            <a:solidFill>
              <a:srgbClr val="0D3B2E"/>
            </a:solidFill>
          </a:ln>
        </p:spPr>
        <p:txBody>
          <a:bodyPr xmlns:a="http://schemas.openxmlformats.org/drawingml/2006/main" anchor="ct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1C0C71A5-F523-49BA-BFA0-EC81FA462A1E}"/>
              </a:ext>
            </a:extLst>
          </p:cNvPr>
          <p:cNvSpPr>
            <a:spLocks xmlns:a="http://schemas.openxmlformats.org/drawingml/2006/main" noGrp="1"/>
          </p:cNvSpPr>
          <p:nvPr/>
        </p:nvSpPr>
        <p:spPr>
          <a:xfrm xmlns:a="http://schemas.openxmlformats.org/drawingml/2006/main">
            <a:off x="685800" y="36385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0D3B2E"/>
                </a:solidFill>
                <a:latin typeface="Helvetica Neue"/>
                <a:ea typeface="Helvetica Neue"/>
                <a:cs typeface="Helvetica Neue"/>
              </a:defRPr>
            </a:pPr>
            <a:r>
              <a:rPr sz="1500" b="1">
                <a:solidFill>
                  <a:srgbClr val="0D3B2E"/>
                </a:solidFill>
                <a:latin typeface="Helvetica Neue"/>
                <a:ea typeface="Helvetica Neue"/>
                <a:cs typeface="Helvetica Neue"/>
              </a:rPr>
              <a:t>UNDERSTAND</a:t>
            </a:r>
          </a:p>
        </p:txBody>
      </p:sp>
      <p:sp>
        <p:nvSpPr>
          <p:cNvPr id="8" name="">
            <a:extLst xmlns:a="http://schemas.openxmlformats.org/drawingml/2006/main">
              <a:ext uri="{FF2B5EF4-FFF2-40B4-BE49-F238E27FC236}">
                <a16:creationId xmlns:a16="http://schemas.microsoft.com/office/drawing/2014/main" id="{2B3BB98C-053E-41D2-8372-94A6308EA174}"/>
              </a:ext>
            </a:extLst>
          </p:cNvPr>
          <p:cNvSpPr>
            <a:spLocks xmlns:a="http://schemas.openxmlformats.org/drawingml/2006/main" noGrp="1"/>
          </p:cNvSpPr>
          <p:nvPr/>
        </p:nvSpPr>
        <p:spPr>
          <a:xfrm xmlns:a="http://schemas.openxmlformats.org/drawingml/2006/main">
            <a:off x="685800" y="4095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Dwelling, heating, fabric, priorities and BER evidence</a:t>
            </a:r>
          </a:p>
        </p:txBody>
      </p:sp>
      <p:sp>
        <p:nvSpPr>
          <p:cNvPr id="9" name="">
            <a:extLst xmlns:a="http://schemas.openxmlformats.org/drawingml/2006/main">
              <a:ext uri="{FF2B5EF4-FFF2-40B4-BE49-F238E27FC236}">
                <a16:creationId xmlns:a16="http://schemas.microsoft.com/office/drawing/2014/main" id="{AF283A93-36CE-4E03-9781-9046DAF65563}"/>
              </a:ext>
            </a:extLst>
          </p:cNvPr>
          <p:cNvSpPr>
            <a:spLocks xmlns:a="http://schemas.openxmlformats.org/drawingml/2006/main" noGrp="1"/>
          </p:cNvSpPr>
          <p:nvPr/>
        </p:nvSpPr>
        <p:spPr>
          <a:xfrm xmlns:a="http://schemas.openxmlformats.org/drawingml/2006/main">
            <a:off x="3543300" y="2571750"/>
            <a:ext cx="781050" cy="781050"/>
          </a:xfrm>
          <a:prstGeom xmlns:a="http://schemas.openxmlformats.org/drawingml/2006/main" prst="roundRect">
            <a:avLst>
              <a:gd name="adj" fmla="val 50000"/>
            </a:avLst>
          </a:prstGeom>
          <a:solidFill xmlns:a="http://schemas.openxmlformats.org/drawingml/2006/main">
            <a:srgbClr val="0D3B2E"/>
          </a:solidFill>
          <a:ln xmlns:a="http://schemas.openxmlformats.org/drawingml/2006/main" w="0">
            <a:solidFill>
              <a:srgbClr val="0D3B2E"/>
            </a:solidFill>
          </a:ln>
        </p:spPr>
        <p:txBody>
          <a:bodyPr xmlns:a="http://schemas.openxmlformats.org/drawingml/2006/main" anchor="ct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9F8F800F-3AA4-47ED-91CA-14099F388583}"/>
              </a:ext>
            </a:extLst>
          </p:cNvPr>
          <p:cNvSpPr>
            <a:spLocks xmlns:a="http://schemas.openxmlformats.org/drawingml/2006/main" noGrp="1"/>
          </p:cNvSpPr>
          <p:nvPr/>
        </p:nvSpPr>
        <p:spPr>
          <a:xfrm xmlns:a="http://schemas.openxmlformats.org/drawingml/2006/main">
            <a:off x="3543300" y="36385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0D3B2E"/>
                </a:solidFill>
                <a:latin typeface="Helvetica Neue"/>
                <a:ea typeface="Helvetica Neue"/>
                <a:cs typeface="Helvetica Neue"/>
              </a:defRPr>
            </a:pPr>
            <a:r>
              <a:rPr sz="1500" b="1">
                <a:solidFill>
                  <a:srgbClr val="0D3B2E"/>
                </a:solidFill>
                <a:latin typeface="Helvetica Neue"/>
                <a:ea typeface="Helvetica Neue"/>
                <a:cs typeface="Helvetica Neue"/>
              </a:rPr>
              <a:t>COMPARE</a:t>
            </a:r>
          </a:p>
        </p:txBody>
      </p:sp>
      <p:sp>
        <p:nvSpPr>
          <p:cNvPr id="11" name="">
            <a:extLst xmlns:a="http://schemas.openxmlformats.org/drawingml/2006/main">
              <a:ext uri="{FF2B5EF4-FFF2-40B4-BE49-F238E27FC236}">
                <a16:creationId xmlns:a16="http://schemas.microsoft.com/office/drawing/2014/main" id="{7D98E606-79FF-4DCA-B52A-4360693EE685}"/>
              </a:ext>
            </a:extLst>
          </p:cNvPr>
          <p:cNvSpPr>
            <a:spLocks xmlns:a="http://schemas.openxmlformats.org/drawingml/2006/main" noGrp="1"/>
          </p:cNvSpPr>
          <p:nvPr/>
        </p:nvSpPr>
        <p:spPr>
          <a:xfrm xmlns:a="http://schemas.openxmlformats.org/drawingml/2006/main">
            <a:off x="3543300" y="4095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Scenarios, funding routes and indicative net cost</a:t>
            </a:r>
          </a:p>
        </p:txBody>
      </p:sp>
      <p:sp>
        <p:nvSpPr>
          <p:cNvPr id="12" name="">
            <a:extLst xmlns:a="http://schemas.openxmlformats.org/drawingml/2006/main">
              <a:ext uri="{FF2B5EF4-FFF2-40B4-BE49-F238E27FC236}">
                <a16:creationId xmlns:a16="http://schemas.microsoft.com/office/drawing/2014/main" id="{ABD0F93F-0DDF-44A6-9728-2A78382BC12D}"/>
              </a:ext>
            </a:extLst>
          </p:cNvPr>
          <p:cNvSpPr>
            <a:spLocks xmlns:a="http://schemas.openxmlformats.org/drawingml/2006/main" noGrp="1"/>
          </p:cNvSpPr>
          <p:nvPr/>
        </p:nvSpPr>
        <p:spPr>
          <a:xfrm xmlns:a="http://schemas.openxmlformats.org/drawingml/2006/main">
            <a:off x="6400800" y="2571750"/>
            <a:ext cx="781050" cy="781050"/>
          </a:xfrm>
          <a:prstGeom xmlns:a="http://schemas.openxmlformats.org/drawingml/2006/main" prst="roundRect">
            <a:avLst>
              <a:gd name="adj" fmla="val 50000"/>
            </a:avLst>
          </a:prstGeom>
          <a:solidFill xmlns:a="http://schemas.openxmlformats.org/drawingml/2006/main">
            <a:srgbClr val="0D3B2E"/>
          </a:solidFill>
          <a:ln xmlns:a="http://schemas.openxmlformats.org/drawingml/2006/main" w="0">
            <a:solidFill>
              <a:srgbClr val="0D3B2E"/>
            </a:solidFill>
          </a:ln>
        </p:spPr>
        <p:txBody>
          <a:bodyPr xmlns:a="http://schemas.openxmlformats.org/drawingml/2006/main" anchor="ctr"/>
          <a:lstStyle xmlns:a="http://schemas.openxmlformats.org/drawingml/2006/main"/>
          <a:p xmlns:a="http://schemas.openxmlformats.org/drawingml/2006/main">
            <a:pPr>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3</a:t>
            </a:r>
          </a:p>
        </p:txBody>
      </p:sp>
      <p:sp>
        <p:nvSpPr>
          <p:cNvPr id="13" name="">
            <a:extLst xmlns:a="http://schemas.openxmlformats.org/drawingml/2006/main">
              <a:ext uri="{FF2B5EF4-FFF2-40B4-BE49-F238E27FC236}">
                <a16:creationId xmlns:a16="http://schemas.microsoft.com/office/drawing/2014/main" id="{C0CBC8C6-5D80-43A3-A1FC-ADA3F74DE301}"/>
              </a:ext>
            </a:extLst>
          </p:cNvPr>
          <p:cNvSpPr>
            <a:spLocks xmlns:a="http://schemas.openxmlformats.org/drawingml/2006/main" noGrp="1"/>
          </p:cNvSpPr>
          <p:nvPr/>
        </p:nvSpPr>
        <p:spPr>
          <a:xfrm xmlns:a="http://schemas.openxmlformats.org/drawingml/2006/main">
            <a:off x="6400800" y="36385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0D3B2E"/>
                </a:solidFill>
                <a:latin typeface="Helvetica Neue"/>
                <a:ea typeface="Helvetica Neue"/>
                <a:cs typeface="Helvetica Neue"/>
              </a:defRPr>
            </a:pPr>
            <a:r>
              <a:rPr sz="1500" b="1">
                <a:solidFill>
                  <a:srgbClr val="0D3B2E"/>
                </a:solidFill>
                <a:latin typeface="Helvetica Neue"/>
                <a:ea typeface="Helvetica Neue"/>
                <a:cs typeface="Helvetica Neue"/>
              </a:rPr>
              <a:t>SEQUENCE</a:t>
            </a:r>
          </a:p>
        </p:txBody>
      </p:sp>
      <p:sp>
        <p:nvSpPr>
          <p:cNvPr id="14" name="">
            <a:extLst xmlns:a="http://schemas.openxmlformats.org/drawingml/2006/main">
              <a:ext uri="{FF2B5EF4-FFF2-40B4-BE49-F238E27FC236}">
                <a16:creationId xmlns:a16="http://schemas.microsoft.com/office/drawing/2014/main" id="{1447AE3A-91F6-48C4-95C5-C0B08C587AE7}"/>
              </a:ext>
            </a:extLst>
          </p:cNvPr>
          <p:cNvSpPr>
            <a:spLocks xmlns:a="http://schemas.openxmlformats.org/drawingml/2006/main" noGrp="1"/>
          </p:cNvSpPr>
          <p:nvPr/>
        </p:nvSpPr>
        <p:spPr>
          <a:xfrm xmlns:a="http://schemas.openxmlformats.org/drawingml/2006/main">
            <a:off x="6400800" y="4095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Dependencies, safety checks and missing evidence</a:t>
            </a:r>
          </a:p>
        </p:txBody>
      </p:sp>
      <p:sp>
        <p:nvSpPr>
          <p:cNvPr id="15" name="">
            <a:extLst xmlns:a="http://schemas.openxmlformats.org/drawingml/2006/main">
              <a:ext uri="{FF2B5EF4-FFF2-40B4-BE49-F238E27FC236}">
                <a16:creationId xmlns:a16="http://schemas.microsoft.com/office/drawing/2014/main" id="{901B1C19-AA1E-41D1-BB17-776C0D9BE1E0}"/>
              </a:ext>
            </a:extLst>
          </p:cNvPr>
          <p:cNvSpPr>
            <a:spLocks xmlns:a="http://schemas.openxmlformats.org/drawingml/2006/main" noGrp="1"/>
          </p:cNvSpPr>
          <p:nvPr/>
        </p:nvSpPr>
        <p:spPr>
          <a:xfrm xmlns:a="http://schemas.openxmlformats.org/drawingml/2006/main">
            <a:off x="9258300" y="2571750"/>
            <a:ext cx="781050" cy="7810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2550" b="1">
                <a:solidFill>
                  <a:srgbClr val="0D3B2E"/>
                </a:solidFill>
                <a:latin typeface="Helvetica Neue"/>
                <a:ea typeface="Helvetica Neue"/>
                <a:cs typeface="Helvetica Neue"/>
              </a:defRPr>
            </a:pPr>
            <a:r>
              <a:rPr sz="2550" b="1">
                <a:solidFill>
                  <a:srgbClr val="0D3B2E"/>
                </a:solidFill>
                <a:latin typeface="Helvetica Neue"/>
                <a:ea typeface="Helvetica Neue"/>
                <a:cs typeface="Helvetica Neue"/>
              </a:rPr>
              <a:t>4</a:t>
            </a:r>
          </a:p>
        </p:txBody>
      </p:sp>
      <p:sp>
        <p:nvSpPr>
          <p:cNvPr id="16" name="">
            <a:extLst xmlns:a="http://schemas.openxmlformats.org/drawingml/2006/main">
              <a:ext uri="{FF2B5EF4-FFF2-40B4-BE49-F238E27FC236}">
                <a16:creationId xmlns:a16="http://schemas.microsoft.com/office/drawing/2014/main" id="{B08CCF63-ED19-4767-8701-78F987DC54E5}"/>
              </a:ext>
            </a:extLst>
          </p:cNvPr>
          <p:cNvSpPr>
            <a:spLocks xmlns:a="http://schemas.openxmlformats.org/drawingml/2006/main" noGrp="1"/>
          </p:cNvSpPr>
          <p:nvPr/>
        </p:nvSpPr>
        <p:spPr>
          <a:xfrm xmlns:a="http://schemas.openxmlformats.org/drawingml/2006/main">
            <a:off x="9258300" y="36385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0D3B2E"/>
                </a:solidFill>
                <a:latin typeface="Helvetica Neue"/>
                <a:ea typeface="Helvetica Neue"/>
                <a:cs typeface="Helvetica Neue"/>
              </a:defRPr>
            </a:pPr>
            <a:r>
              <a:rPr sz="1500" b="1">
                <a:solidFill>
                  <a:srgbClr val="0D3B2E"/>
                </a:solidFill>
                <a:latin typeface="Helvetica Neue"/>
                <a:ea typeface="Helvetica Neue"/>
                <a:cs typeface="Helvetica Neue"/>
              </a:rPr>
              <a:t>HAND OFF</a:t>
            </a:r>
          </a:p>
        </p:txBody>
      </p:sp>
      <p:sp>
        <p:nvSpPr>
          <p:cNvPr id="17" name="">
            <a:extLst xmlns:a="http://schemas.openxmlformats.org/drawingml/2006/main">
              <a:ext uri="{FF2B5EF4-FFF2-40B4-BE49-F238E27FC236}">
                <a16:creationId xmlns:a16="http://schemas.microsoft.com/office/drawing/2014/main" id="{04E90A53-32AA-4CCB-A37A-D9D9E441B2CD}"/>
              </a:ext>
            </a:extLst>
          </p:cNvPr>
          <p:cNvSpPr>
            <a:spLocks xmlns:a="http://schemas.openxmlformats.org/drawingml/2006/main" noGrp="1"/>
          </p:cNvSpPr>
          <p:nvPr/>
        </p:nvSpPr>
        <p:spPr>
          <a:xfrm xmlns:a="http://schemas.openxmlformats.org/drawingml/2006/main">
            <a:off x="9258300" y="4095750"/>
            <a:ext cx="22669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A saved brief for an assessor, adviser or contractor</a:t>
            </a:r>
          </a:p>
        </p:txBody>
      </p:sp>
      <p:sp>
        <p:nvSpPr>
          <p:cNvPr id="18" name="">
            <a:extLst xmlns:a="http://schemas.openxmlformats.org/drawingml/2006/main">
              <a:ext uri="{FF2B5EF4-FFF2-40B4-BE49-F238E27FC236}">
                <a16:creationId xmlns:a16="http://schemas.microsoft.com/office/drawing/2014/main" id="{971D8385-E8F1-449C-B975-EE2CD357A340}"/>
              </a:ext>
            </a:extLst>
          </p:cNvPr>
          <p:cNvSpPr>
            <a:spLocks xmlns:a="http://schemas.openxmlformats.org/drawingml/2006/main" noGrp="1"/>
          </p:cNvSpPr>
          <p:nvPr/>
        </p:nvSpPr>
        <p:spPr>
          <a:xfrm xmlns:a="http://schemas.openxmlformats.org/drawingml/2006/main">
            <a:off x="685800" y="5553075"/>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1">
                <a:solidFill>
                  <a:srgbClr val="15231E"/>
                </a:solidFill>
                <a:latin typeface="Helvetica Neue"/>
                <a:ea typeface="Helvetica Neue"/>
                <a:cs typeface="Helvetica Neue"/>
              </a:defRPr>
            </a:pPr>
            <a:r>
              <a:rPr sz="1875" b="1">
                <a:solidFill>
                  <a:srgbClr val="15231E"/>
                </a:solidFill>
                <a:latin typeface="Helvetica Neue"/>
                <a:ea typeface="Helvetica Neue"/>
                <a:cs typeface="Helvetica Neue"/>
              </a:rPr>
              <a:t>The output supports the professional conversation. It does not replace it.</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bg>
      <p:bgPr>
        <a:solidFill xmlns:a="http://schemas.openxmlformats.org/drawingml/2006/main">
          <a:srgbClr val="0D3B2E"/>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704274C7-8360-4D71-81F2-6CC112940A68}"/>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A7D46F"/>
                </a:solidFill>
                <a:latin typeface="Helvetica Neue"/>
                <a:ea typeface="Helvetica Neue"/>
                <a:cs typeface="Helvetica Neue"/>
              </a:defRPr>
            </a:pPr>
            <a:r>
              <a:rPr sz="1050" b="1">
                <a:solidFill>
                  <a:srgbClr val="A7D46F"/>
                </a:solidFill>
                <a:latin typeface="Helvetica Neue"/>
                <a:ea typeface="Helvetica Neue"/>
                <a:cs typeface="Helvetica Neue"/>
              </a:rPr>
              <a:t>SEAI FUNDING PATHWAYS</a:t>
            </a:r>
          </a:p>
        </p:txBody>
      </p:sp>
      <p:sp>
        <p:nvSpPr>
          <p:cNvPr id="2" name="">
            <a:extLst xmlns:a="http://schemas.openxmlformats.org/drawingml/2006/main">
              <a:ext uri="{FF2B5EF4-FFF2-40B4-BE49-F238E27FC236}">
                <a16:creationId xmlns:a16="http://schemas.microsoft.com/office/drawing/2014/main" id="{A063F59A-5EBF-404F-902B-6F9DA91F0627}"/>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Three routes, one consistent comparison</a:t>
            </a:r>
          </a:p>
        </p:txBody>
      </p:sp>
      <p:sp>
        <p:nvSpPr>
          <p:cNvPr id="3" name="">
            <a:extLst xmlns:a="http://schemas.openxmlformats.org/drawingml/2006/main">
              <a:ext uri="{FF2B5EF4-FFF2-40B4-BE49-F238E27FC236}">
                <a16:creationId xmlns:a16="http://schemas.microsoft.com/office/drawing/2014/main" id="{48D987A4-D13E-4EA7-9FD5-89CE4DB5F65B}"/>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CFE0D5"/>
                </a:solidFill>
                <a:latin typeface="Helvetica Neue"/>
                <a:ea typeface="Helvetica Neue"/>
                <a:cs typeface="Helvetica Neue"/>
              </a:defRPr>
            </a:pPr>
            <a:r>
              <a:rPr sz="900" b="1">
                <a:solidFill>
                  <a:srgbClr val="CFE0D5"/>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9877ABED-C56C-4D16-B2AA-B4B55E38D85D}"/>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CFE0D5"/>
                </a:solidFill>
                <a:latin typeface="Helvetica Neue"/>
                <a:ea typeface="Helvetica Neue"/>
                <a:cs typeface="Helvetica Neue"/>
              </a:defRPr>
            </a:pPr>
            <a:r>
              <a:rPr sz="900" b="1">
                <a:solidFill>
                  <a:srgbClr val="CFE0D5"/>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04FAA325-1946-4A1D-9347-72929A39F66B}"/>
              </a:ext>
            </a:extLst>
          </p:cNvPr>
          <p:cNvSpPr>
            <a:spLocks xmlns:a="http://schemas.openxmlformats.org/drawingml/2006/main" noGrp="1"/>
          </p:cNvSpPr>
          <p:nvPr/>
        </p:nvSpPr>
        <p:spPr>
          <a:xfrm xmlns:a="http://schemas.openxmlformats.org/drawingml/2006/main">
            <a:off x="457200" y="1714500"/>
            <a:ext cx="3429000" cy="3905250"/>
          </a:xfrm>
          <a:prstGeom xmlns:a="http://schemas.openxmlformats.org/drawingml/2006/main" prst="roundRect">
            <a:avLst>
              <a:gd name="adj" fmla="val 5000"/>
            </a:avLst>
          </a:prstGeom>
          <a:solidFill xmlns:a="http://schemas.openxmlformats.org/drawingml/2006/main">
            <a:srgbClr val="174C3B"/>
          </a:solidFill>
          <a:ln xmlns:a="http://schemas.openxmlformats.org/drawingml/2006/main" w="0">
            <a:solidFill>
              <a:srgbClr val="174C3B"/>
            </a:solid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3039AF7E-6E81-4126-A061-58A40AE812BE}"/>
              </a:ext>
            </a:extLst>
          </p:cNvPr>
          <p:cNvSpPr>
            <a:spLocks xmlns:a="http://schemas.openxmlformats.org/drawingml/2006/main" noGrp="1"/>
          </p:cNvSpPr>
          <p:nvPr/>
        </p:nvSpPr>
        <p:spPr>
          <a:xfrm xmlns:a="http://schemas.openxmlformats.org/drawingml/2006/main">
            <a:off x="723900" y="1981200"/>
            <a:ext cx="87630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ROUTE 1</a:t>
            </a:r>
          </a:p>
        </p:txBody>
      </p:sp>
      <p:sp>
        <p:nvSpPr>
          <p:cNvPr id="7" name="">
            <a:extLst xmlns:a="http://schemas.openxmlformats.org/drawingml/2006/main">
              <a:ext uri="{FF2B5EF4-FFF2-40B4-BE49-F238E27FC236}">
                <a16:creationId xmlns:a16="http://schemas.microsoft.com/office/drawing/2014/main" id="{047DDD09-C9F3-4119-ACE0-5CD880015628}"/>
              </a:ext>
            </a:extLst>
          </p:cNvPr>
          <p:cNvSpPr>
            <a:spLocks xmlns:a="http://schemas.openxmlformats.org/drawingml/2006/main" noGrp="1"/>
          </p:cNvSpPr>
          <p:nvPr/>
        </p:nvSpPr>
        <p:spPr>
          <a:xfrm xmlns:a="http://schemas.openxmlformats.org/drawingml/2006/main">
            <a:off x="723900" y="25146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INDIVIDUAL UPGRADES</a:t>
            </a:r>
          </a:p>
        </p:txBody>
      </p:sp>
      <p:sp>
        <p:nvSpPr>
          <p:cNvPr id="8" name="">
            <a:extLst xmlns:a="http://schemas.openxmlformats.org/drawingml/2006/main">
              <a:ext uri="{FF2B5EF4-FFF2-40B4-BE49-F238E27FC236}">
                <a16:creationId xmlns:a16="http://schemas.microsoft.com/office/drawing/2014/main" id="{6D14E7C9-AAF2-4F11-9A69-8503FF9FFC9C}"/>
              </a:ext>
            </a:extLst>
          </p:cNvPr>
          <p:cNvSpPr>
            <a:spLocks xmlns:a="http://schemas.openxmlformats.org/drawingml/2006/main" noGrp="1"/>
          </p:cNvSpPr>
          <p:nvPr/>
        </p:nvSpPr>
        <p:spPr>
          <a:xfrm xmlns:a="http://schemas.openxmlformats.org/drawingml/2006/main">
            <a:off x="723900" y="32099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DCE9E1"/>
                </a:solidFill>
                <a:latin typeface="Helvetica Neue"/>
                <a:ea typeface="Helvetica Neue"/>
                <a:cs typeface="Helvetica Neue"/>
              </a:defRPr>
            </a:pPr>
            <a:r>
              <a:rPr sz="1575" b="0">
                <a:solidFill>
                  <a:srgbClr val="DCE9E1"/>
                </a:solidFill>
                <a:latin typeface="Helvetica Neue"/>
                <a:ea typeface="Helvetica Neue"/>
                <a:cs typeface="Helvetica Neue"/>
              </a:rPr>
              <a:t>Stage eligible measures over time</a:t>
            </a:r>
          </a:p>
        </p:txBody>
      </p:sp>
      <p:sp>
        <p:nvSpPr>
          <p:cNvPr id="9" name="">
            <a:extLst xmlns:a="http://schemas.openxmlformats.org/drawingml/2006/main">
              <a:ext uri="{FF2B5EF4-FFF2-40B4-BE49-F238E27FC236}">
                <a16:creationId xmlns:a16="http://schemas.microsoft.com/office/drawing/2014/main" id="{FB7ACB27-2D9F-40BF-B74C-DD6F9DFD9A90}"/>
              </a:ext>
            </a:extLst>
          </p:cNvPr>
          <p:cNvSpPr>
            <a:spLocks xmlns:a="http://schemas.openxmlformats.org/drawingml/2006/main" noGrp="1"/>
          </p:cNvSpPr>
          <p:nvPr/>
        </p:nvSpPr>
        <p:spPr>
          <a:xfrm xmlns:a="http://schemas.openxmlformats.org/drawingml/2006/main">
            <a:off x="723900" y="4000500"/>
            <a:ext cx="2857500" cy="0"/>
          </a:xfrm>
          <a:prstGeom xmlns:a="http://schemas.openxmlformats.org/drawingml/2006/main" prst="line">
            <a:avLst/>
          </a:prstGeom>
          <a:noFill xmlns:a="http://schemas.openxmlformats.org/drawingml/2006/main"/>
          <a:ln xmlns:a="http://schemas.openxmlformats.org/drawingml/2006/main" w="19050">
            <a:solidFill>
              <a:srgbClr val="56806F"/>
            </a:solidFill>
            <a:prstDash val="solid"/>
          </a:ln>
        </p:spPr>
      </p:sp>
      <p:sp>
        <p:nvSpPr>
          <p:cNvPr id="10" name="">
            <a:extLst xmlns:a="http://schemas.openxmlformats.org/drawingml/2006/main">
              <a:ext uri="{FF2B5EF4-FFF2-40B4-BE49-F238E27FC236}">
                <a16:creationId xmlns:a16="http://schemas.microsoft.com/office/drawing/2014/main" id="{62DA94A5-8BE1-491F-97F2-66D5AAA30FBF}"/>
              </a:ext>
            </a:extLst>
          </p:cNvPr>
          <p:cNvSpPr>
            <a:spLocks xmlns:a="http://schemas.openxmlformats.org/drawingml/2006/main" noGrp="1"/>
          </p:cNvSpPr>
          <p:nvPr/>
        </p:nvSpPr>
        <p:spPr>
          <a:xfrm xmlns:a="http://schemas.openxmlformats.org/drawingml/2006/main">
            <a:off x="723900" y="4238625"/>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Measure cost</a:t>
            </a:r>
          </a:p>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SEAI grant</a:t>
            </a:r>
          </a:p>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Homeowner net cost</a:t>
            </a:r>
          </a:p>
        </p:txBody>
      </p:sp>
      <p:sp>
        <p:nvSpPr>
          <p:cNvPr id="11" name="">
            <a:extLst xmlns:a="http://schemas.openxmlformats.org/drawingml/2006/main">
              <a:ext uri="{FF2B5EF4-FFF2-40B4-BE49-F238E27FC236}">
                <a16:creationId xmlns:a16="http://schemas.microsoft.com/office/drawing/2014/main" id="{CC16CF80-C8CB-45D9-A4E2-441D8EDD4380}"/>
              </a:ext>
            </a:extLst>
          </p:cNvPr>
          <p:cNvSpPr>
            <a:spLocks xmlns:a="http://schemas.openxmlformats.org/drawingml/2006/main" noGrp="1"/>
          </p:cNvSpPr>
          <p:nvPr/>
        </p:nvSpPr>
        <p:spPr>
          <a:xfrm xmlns:a="http://schemas.openxmlformats.org/drawingml/2006/main">
            <a:off x="4267200" y="1714500"/>
            <a:ext cx="3429000" cy="390525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0">
            <a:solidFill>
              <a:srgbClr val="FFFFFF"/>
            </a:solid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0F916FF8-B889-4705-B3B2-11A37D47F71F}"/>
              </a:ext>
            </a:extLst>
          </p:cNvPr>
          <p:cNvSpPr>
            <a:spLocks xmlns:a="http://schemas.openxmlformats.org/drawingml/2006/main" noGrp="1"/>
          </p:cNvSpPr>
          <p:nvPr/>
        </p:nvSpPr>
        <p:spPr>
          <a:xfrm xmlns:a="http://schemas.openxmlformats.org/drawingml/2006/main">
            <a:off x="4533900" y="1981200"/>
            <a:ext cx="876300" cy="323850"/>
          </a:xfrm>
          <a:prstGeom xmlns:a="http://schemas.openxmlformats.org/drawingml/2006/main" prst="roundRect">
            <a:avLst>
              <a:gd name="adj" fmla="val 50000"/>
            </a:avLst>
          </a:prstGeom>
          <a:solidFill xmlns:a="http://schemas.openxmlformats.org/drawingml/2006/main">
            <a:srgbClr val="E8F1EB"/>
          </a:solidFill>
          <a:ln xmlns:a="http://schemas.openxmlformats.org/drawingml/2006/main" w="0">
            <a:solidFill>
              <a:srgbClr val="E8F1EB"/>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ROUTE 2</a:t>
            </a:r>
          </a:p>
        </p:txBody>
      </p:sp>
      <p:sp>
        <p:nvSpPr>
          <p:cNvPr id="13" name="">
            <a:extLst xmlns:a="http://schemas.openxmlformats.org/drawingml/2006/main">
              <a:ext uri="{FF2B5EF4-FFF2-40B4-BE49-F238E27FC236}">
                <a16:creationId xmlns:a16="http://schemas.microsoft.com/office/drawing/2014/main" id="{EB838DB2-C5BE-4486-906E-E368FA485370}"/>
              </a:ext>
            </a:extLst>
          </p:cNvPr>
          <p:cNvSpPr>
            <a:spLocks xmlns:a="http://schemas.openxmlformats.org/drawingml/2006/main" noGrp="1"/>
          </p:cNvSpPr>
          <p:nvPr/>
        </p:nvSpPr>
        <p:spPr>
          <a:xfrm xmlns:a="http://schemas.openxmlformats.org/drawingml/2006/main">
            <a:off x="4533900" y="25146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0D3B2E"/>
                </a:solidFill>
                <a:latin typeface="Helvetica Neue"/>
                <a:ea typeface="Helvetica Neue"/>
                <a:cs typeface="Helvetica Neue"/>
              </a:defRPr>
            </a:pPr>
            <a:r>
              <a:rPr sz="1950" b="1">
                <a:solidFill>
                  <a:srgbClr val="0D3B2E"/>
                </a:solidFill>
                <a:latin typeface="Helvetica Neue"/>
                <a:ea typeface="Helvetica Neue"/>
                <a:cs typeface="Helvetica Neue"/>
              </a:rPr>
              <a:t>ONE STOP SHOP</a:t>
            </a:r>
          </a:p>
        </p:txBody>
      </p:sp>
      <p:sp>
        <p:nvSpPr>
          <p:cNvPr id="14" name="">
            <a:extLst xmlns:a="http://schemas.openxmlformats.org/drawingml/2006/main">
              <a:ext uri="{FF2B5EF4-FFF2-40B4-BE49-F238E27FC236}">
                <a16:creationId xmlns:a16="http://schemas.microsoft.com/office/drawing/2014/main" id="{4A581EA4-F8D5-4056-A61D-AAD8C1BBAA1A}"/>
              </a:ext>
            </a:extLst>
          </p:cNvPr>
          <p:cNvSpPr>
            <a:spLocks xmlns:a="http://schemas.openxmlformats.org/drawingml/2006/main" noGrp="1"/>
          </p:cNvSpPr>
          <p:nvPr/>
        </p:nvSpPr>
        <p:spPr>
          <a:xfrm xmlns:a="http://schemas.openxmlformats.org/drawingml/2006/main">
            <a:off x="4533900" y="32099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5231E"/>
                </a:solidFill>
                <a:latin typeface="Helvetica Neue"/>
                <a:ea typeface="Helvetica Neue"/>
                <a:cs typeface="Helvetica Neue"/>
              </a:defRPr>
            </a:pPr>
            <a:r>
              <a:rPr sz="1575" b="0">
                <a:solidFill>
                  <a:srgbClr val="15231E"/>
                </a:solidFill>
                <a:latin typeface="Helvetica Neue"/>
                <a:ea typeface="Helvetica Neue"/>
                <a:cs typeface="Helvetica Neue"/>
              </a:rPr>
              <a:t>Coordinate a whole-home project</a:t>
            </a:r>
          </a:p>
        </p:txBody>
      </p:sp>
      <p:sp>
        <p:nvSpPr>
          <p:cNvPr id="15" name="">
            <a:extLst xmlns:a="http://schemas.openxmlformats.org/drawingml/2006/main">
              <a:ext uri="{FF2B5EF4-FFF2-40B4-BE49-F238E27FC236}">
                <a16:creationId xmlns:a16="http://schemas.microsoft.com/office/drawing/2014/main" id="{BA0910DC-C987-42A6-8C28-00524B58ACB8}"/>
              </a:ext>
            </a:extLst>
          </p:cNvPr>
          <p:cNvSpPr>
            <a:spLocks xmlns:a="http://schemas.openxmlformats.org/drawingml/2006/main" noGrp="1"/>
          </p:cNvSpPr>
          <p:nvPr/>
        </p:nvSpPr>
        <p:spPr>
          <a:xfrm xmlns:a="http://schemas.openxmlformats.org/drawingml/2006/main">
            <a:off x="4533900" y="4000500"/>
            <a:ext cx="2857500" cy="0"/>
          </a:xfrm>
          <a:prstGeom xmlns:a="http://schemas.openxmlformats.org/drawingml/2006/main" prst="line">
            <a:avLst/>
          </a:prstGeom>
          <a:noFill xmlns:a="http://schemas.openxmlformats.org/drawingml/2006/main"/>
          <a:ln xmlns:a="http://schemas.openxmlformats.org/drawingml/2006/main" w="19050">
            <a:solidFill>
              <a:srgbClr val="CDD9D1"/>
            </a:solidFill>
            <a:prstDash val="solid"/>
          </a:ln>
        </p:spPr>
      </p:sp>
      <p:sp>
        <p:nvSpPr>
          <p:cNvPr id="16" name="">
            <a:extLst xmlns:a="http://schemas.openxmlformats.org/drawingml/2006/main">
              <a:ext uri="{FF2B5EF4-FFF2-40B4-BE49-F238E27FC236}">
                <a16:creationId xmlns:a16="http://schemas.microsoft.com/office/drawing/2014/main" id="{5980E74E-1270-4900-9618-6ED8FA81D97E}"/>
              </a:ext>
            </a:extLst>
          </p:cNvPr>
          <p:cNvSpPr>
            <a:spLocks xmlns:a="http://schemas.openxmlformats.org/drawingml/2006/main" noGrp="1"/>
          </p:cNvSpPr>
          <p:nvPr/>
        </p:nvSpPr>
        <p:spPr>
          <a:xfrm xmlns:a="http://schemas.openxmlformats.org/drawingml/2006/main">
            <a:off x="4533900" y="4238625"/>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Package benchmark</a:t>
            </a:r>
          </a:p>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Grant benchmark</a:t>
            </a:r>
          </a:p>
          <a:p xmlns:a="http://schemas.openxmlformats.org/drawingml/2006/main">
            <a:pPr>
              <a:defRPr sz="1500" b="0">
                <a:solidFill>
                  <a:srgbClr val="5E6C66"/>
                </a:solidFill>
                <a:latin typeface="Helvetica Neue"/>
                <a:ea typeface="Helvetica Neue"/>
                <a:cs typeface="Helvetica Neue"/>
              </a:defRPr>
            </a:pPr>
            <a:r>
              <a:rPr sz="1500" b="0">
                <a:solidFill>
                  <a:srgbClr val="5E6C66"/>
                </a:solidFill>
                <a:latin typeface="Helvetica Neue"/>
                <a:ea typeface="Helvetica Neue"/>
                <a:cs typeface="Helvetica Neue"/>
              </a:rPr>
              <a:t>Eligibility and scope</a:t>
            </a:r>
          </a:p>
        </p:txBody>
      </p:sp>
      <p:sp>
        <p:nvSpPr>
          <p:cNvPr id="17" name="">
            <a:extLst xmlns:a="http://schemas.openxmlformats.org/drawingml/2006/main">
              <a:ext uri="{FF2B5EF4-FFF2-40B4-BE49-F238E27FC236}">
                <a16:creationId xmlns:a16="http://schemas.microsoft.com/office/drawing/2014/main" id="{797ED96D-3ED9-4AE9-831D-46A9EAFE812C}"/>
              </a:ext>
            </a:extLst>
          </p:cNvPr>
          <p:cNvSpPr>
            <a:spLocks xmlns:a="http://schemas.openxmlformats.org/drawingml/2006/main" noGrp="1"/>
          </p:cNvSpPr>
          <p:nvPr/>
        </p:nvSpPr>
        <p:spPr>
          <a:xfrm xmlns:a="http://schemas.openxmlformats.org/drawingml/2006/main">
            <a:off x="8077200" y="1714500"/>
            <a:ext cx="3429000" cy="3905250"/>
          </a:xfrm>
          <a:prstGeom xmlns:a="http://schemas.openxmlformats.org/drawingml/2006/main" prst="roundRect">
            <a:avLst>
              <a:gd name="adj" fmla="val 5000"/>
            </a:avLst>
          </a:prstGeom>
          <a:solidFill xmlns:a="http://schemas.openxmlformats.org/drawingml/2006/main">
            <a:srgbClr val="174C3B"/>
          </a:solidFill>
          <a:ln xmlns:a="http://schemas.openxmlformats.org/drawingml/2006/main" w="0">
            <a:solidFill>
              <a:srgbClr val="174C3B"/>
            </a:solid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736CE8E9-BB13-4E78-BA14-FC828F1D8F5D}"/>
              </a:ext>
            </a:extLst>
          </p:cNvPr>
          <p:cNvSpPr>
            <a:spLocks xmlns:a="http://schemas.openxmlformats.org/drawingml/2006/main" noGrp="1"/>
          </p:cNvSpPr>
          <p:nvPr/>
        </p:nvSpPr>
        <p:spPr>
          <a:xfrm xmlns:a="http://schemas.openxmlformats.org/drawingml/2006/main">
            <a:off x="8343900" y="1981200"/>
            <a:ext cx="87630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ROUTE 3</a:t>
            </a:r>
          </a:p>
        </p:txBody>
      </p:sp>
      <p:sp>
        <p:nvSpPr>
          <p:cNvPr id="19" name="">
            <a:extLst xmlns:a="http://schemas.openxmlformats.org/drawingml/2006/main">
              <a:ext uri="{FF2B5EF4-FFF2-40B4-BE49-F238E27FC236}">
                <a16:creationId xmlns:a16="http://schemas.microsoft.com/office/drawing/2014/main" id="{EA277F0E-4181-40C3-BF49-3C9D3B562DD8}"/>
              </a:ext>
            </a:extLst>
          </p:cNvPr>
          <p:cNvSpPr>
            <a:spLocks xmlns:a="http://schemas.openxmlformats.org/drawingml/2006/main" noGrp="1"/>
          </p:cNvSpPr>
          <p:nvPr/>
        </p:nvSpPr>
        <p:spPr>
          <a:xfrm xmlns:a="http://schemas.openxmlformats.org/drawingml/2006/main">
            <a:off x="8343900" y="2514600"/>
            <a:ext cx="289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FULLY FUNDED</a:t>
            </a:r>
          </a:p>
        </p:txBody>
      </p:sp>
      <p:sp>
        <p:nvSpPr>
          <p:cNvPr id="20" name="">
            <a:extLst xmlns:a="http://schemas.openxmlformats.org/drawingml/2006/main">
              <a:ext uri="{FF2B5EF4-FFF2-40B4-BE49-F238E27FC236}">
                <a16:creationId xmlns:a16="http://schemas.microsoft.com/office/drawing/2014/main" id="{F5795469-855F-49A4-B2C1-CDCC1F020C3D}"/>
              </a:ext>
            </a:extLst>
          </p:cNvPr>
          <p:cNvSpPr>
            <a:spLocks xmlns:a="http://schemas.openxmlformats.org/drawingml/2006/main" noGrp="1"/>
          </p:cNvSpPr>
          <p:nvPr/>
        </p:nvSpPr>
        <p:spPr>
          <a:xfrm xmlns:a="http://schemas.openxmlformats.org/drawingml/2006/main">
            <a:off x="8343900" y="3209925"/>
            <a:ext cx="285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DCE9E1"/>
                </a:solidFill>
                <a:latin typeface="Helvetica Neue"/>
                <a:ea typeface="Helvetica Neue"/>
                <a:cs typeface="Helvetica Neue"/>
              </a:defRPr>
            </a:pPr>
            <a:r>
              <a:rPr sz="1575" b="0">
                <a:solidFill>
                  <a:srgbClr val="DCE9E1"/>
                </a:solidFill>
                <a:latin typeface="Helvetica Neue"/>
                <a:ea typeface="Helvetica Neue"/>
                <a:cs typeface="Helvetica Neue"/>
              </a:rPr>
              <a:t>Screen qualifying homeowners</a:t>
            </a:r>
          </a:p>
        </p:txBody>
      </p:sp>
      <p:sp>
        <p:nvSpPr>
          <p:cNvPr id="21" name="">
            <a:extLst xmlns:a="http://schemas.openxmlformats.org/drawingml/2006/main">
              <a:ext uri="{FF2B5EF4-FFF2-40B4-BE49-F238E27FC236}">
                <a16:creationId xmlns:a16="http://schemas.microsoft.com/office/drawing/2014/main" id="{9F7DF5D8-96F6-497C-8EB9-45E509DC202D}"/>
              </a:ext>
            </a:extLst>
          </p:cNvPr>
          <p:cNvSpPr>
            <a:spLocks xmlns:a="http://schemas.openxmlformats.org/drawingml/2006/main" noGrp="1"/>
          </p:cNvSpPr>
          <p:nvPr/>
        </p:nvSpPr>
        <p:spPr>
          <a:xfrm xmlns:a="http://schemas.openxmlformats.org/drawingml/2006/main">
            <a:off x="8343900" y="4000500"/>
            <a:ext cx="2857500" cy="0"/>
          </a:xfrm>
          <a:prstGeom xmlns:a="http://schemas.openxmlformats.org/drawingml/2006/main" prst="line">
            <a:avLst/>
          </a:prstGeom>
          <a:noFill xmlns:a="http://schemas.openxmlformats.org/drawingml/2006/main"/>
          <a:ln xmlns:a="http://schemas.openxmlformats.org/drawingml/2006/main" w="19050">
            <a:solidFill>
              <a:srgbClr val="56806F"/>
            </a:solidFill>
            <a:prstDash val="solid"/>
          </a:ln>
        </p:spPr>
      </p:sp>
      <p:sp>
        <p:nvSpPr>
          <p:cNvPr id="22" name="">
            <a:extLst xmlns:a="http://schemas.openxmlformats.org/drawingml/2006/main">
              <a:ext uri="{FF2B5EF4-FFF2-40B4-BE49-F238E27FC236}">
                <a16:creationId xmlns:a16="http://schemas.microsoft.com/office/drawing/2014/main" id="{E3A45EDD-AD47-40B7-8B41-A5AF75C3171C}"/>
              </a:ext>
            </a:extLst>
          </p:cNvPr>
          <p:cNvSpPr>
            <a:spLocks xmlns:a="http://schemas.openxmlformats.org/drawingml/2006/main" noGrp="1"/>
          </p:cNvSpPr>
          <p:nvPr/>
        </p:nvSpPr>
        <p:spPr>
          <a:xfrm xmlns:a="http://schemas.openxmlformats.org/drawingml/2006/main">
            <a:off x="8343900" y="4238625"/>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Qualifying payments</a:t>
            </a:r>
          </a:p>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SEAI assessment</a:t>
            </a:r>
          </a:p>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Approved scope</a:t>
            </a:r>
          </a:p>
        </p:txBody>
      </p:sp>
    </p:spTree>
    <p:extLst>
      <p:ext uri="{BB962C8B-B14F-4D97-AF65-F5344CB8AC3E}">
        <p14:creationId xmlns:p14="http://schemas.microsoft.com/office/powerpoint/2010/main" val="1393456992"/>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FE2EDD-1AE2-41F7-9BBF-8E676D5A9219}"/>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GRANT AND NET COST</a:t>
            </a:r>
          </a:p>
        </p:txBody>
      </p:sp>
      <p:sp>
        <p:nvSpPr>
          <p:cNvPr id="2" name="">
            <a:extLst xmlns:a="http://schemas.openxmlformats.org/drawingml/2006/main">
              <a:ext uri="{FF2B5EF4-FFF2-40B4-BE49-F238E27FC236}">
                <a16:creationId xmlns:a16="http://schemas.microsoft.com/office/drawing/2014/main" id="{34528C21-E702-4899-B368-42C9E5D27784}"/>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The homeowner sees the full calculation</a:t>
            </a:r>
          </a:p>
        </p:txBody>
      </p:sp>
      <p:sp>
        <p:nvSpPr>
          <p:cNvPr id="3" name="">
            <a:extLst xmlns:a="http://schemas.openxmlformats.org/drawingml/2006/main">
              <a:ext uri="{FF2B5EF4-FFF2-40B4-BE49-F238E27FC236}">
                <a16:creationId xmlns:a16="http://schemas.microsoft.com/office/drawing/2014/main" id="{ADF63B70-7238-4D78-A364-8E903DDFBCF9}"/>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CCBFBF61-E2EA-4CCE-AD12-86F8B6AFE411}"/>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C1C7D09-B7D0-42A1-89D3-52179AEFC2C8}"/>
              </a:ext>
            </a:extLst>
          </p:cNvPr>
          <p:cNvSpPr>
            <a:spLocks xmlns:a="http://schemas.openxmlformats.org/drawingml/2006/main" noGrp="1"/>
          </p:cNvSpPr>
          <p:nvPr/>
        </p:nvSpPr>
        <p:spPr>
          <a:xfrm xmlns:a="http://schemas.openxmlformats.org/drawingml/2006/main">
            <a:off x="457200" y="1352550"/>
            <a:ext cx="857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5E6C66"/>
                </a:solidFill>
                <a:latin typeface="Helvetica Neue"/>
                <a:ea typeface="Helvetica Neue"/>
                <a:cs typeface="Helvetica Neue"/>
              </a:defRPr>
            </a:pPr>
            <a:r>
              <a:rPr sz="1200" b="0">
                <a:solidFill>
                  <a:srgbClr val="5E6C66"/>
                </a:solidFill>
                <a:latin typeface="Helvetica Neue"/>
                <a:ea typeface="Helvetica Neue"/>
                <a:cs typeface="Helvetica Neue"/>
              </a:rPr>
              <a:t>Illustrative semi-detached home  |  Individual upgrades  |  SEAI 2025 medians</a:t>
            </a:r>
          </a:p>
        </p:txBody>
      </p:sp>
      <p:graphicFrame>
        <p:nvGraphicFramePr>
          <p:cNvPr id="18" name=""/>
          <p:cNvGraphicFramePr/>
          <p:nvPr/>
        </p:nvGraphicFramePr>
        <p:xfrm>
          <a:off xmlns:a="http://schemas.openxmlformats.org/drawingml/2006/main" x="457200" y="1952625"/>
          <a:ext xmlns:a="http://schemas.openxmlformats.org/drawingml/2006/main" cx="7239000" cy="3143250"/>
        </p:xfrm>
        <a:graphic xmlns:a="http://schemas.openxmlformats.org/drawingml/2006/main">
          <a:graphicData uri="http://schemas.openxmlformats.org/drawingml/2006/table">
            <a:tbl>
              <a:tblPr/>
              <a:tblGrid>
                <a:gridCol w="3333750"/>
                <a:gridCol w="1952625"/>
                <a:gridCol w="1952625"/>
              </a:tblGrid>
              <a:tr h="785813">
                <a:tc>
                  <a:txBody>
                    <a:bodyPr/>
                    <a:lstStyle/>
                    <a:p>
                      <a:r>
                        <a:rPr sz="1275" b="1">
                          <a:solidFill>
                            <a:srgbClr val="FFFFFF"/>
                          </a:solidFill>
                          <a:latin typeface="Helvetica Neue"/>
                          <a:ea typeface="Helvetica Neue"/>
                          <a:cs typeface="Helvetica Neue"/>
                        </a:rPr>
                        <a:t>UPGRADE</a:t>
                      </a:r>
                    </a:p>
                  </a:txBody>
                  <a:tcPr marL="91440" marR="91440" marT="45720" marB="45720">
                    <a:solidFill>
                      <a:srgbClr val="0D3B2E"/>
                    </a:solidFill>
                  </a:tcPr>
                </a:tc>
                <a:tc>
                  <a:txBody>
                    <a:bodyPr/>
                    <a:lstStyle/>
                    <a:p>
                      <a:r>
                        <a:rPr sz="1275" b="1">
                          <a:solidFill>
                            <a:srgbClr val="FFFFFF"/>
                          </a:solidFill>
                          <a:latin typeface="Helvetica Neue"/>
                          <a:ea typeface="Helvetica Neue"/>
                          <a:cs typeface="Helvetica Neue"/>
                        </a:rPr>
                        <a:t>MEDIAN COST</a:t>
                      </a:r>
                    </a:p>
                  </a:txBody>
                  <a:tcPr marL="91440" marR="91440" marT="45720" marB="45720">
                    <a:solidFill>
                      <a:srgbClr val="0D3B2E"/>
                    </a:solidFill>
                  </a:tcPr>
                </a:tc>
                <a:tc>
                  <a:txBody>
                    <a:bodyPr/>
                    <a:lstStyle/>
                    <a:p>
                      <a:r>
                        <a:rPr sz="1275" b="1">
                          <a:solidFill>
                            <a:srgbClr val="FFFFFF"/>
                          </a:solidFill>
                          <a:latin typeface="Helvetica Neue"/>
                          <a:ea typeface="Helvetica Neue"/>
                          <a:cs typeface="Helvetica Neue"/>
                        </a:rPr>
                        <a:t>SEAI GRANT</a:t>
                      </a:r>
                    </a:p>
                  </a:txBody>
                  <a:tcPr marL="91440" marR="91440" marT="45720" marB="45720">
                    <a:solidFill>
                      <a:srgbClr val="0D3B2E"/>
                    </a:solidFill>
                  </a:tcPr>
                </a:tc>
              </a:tr>
              <a:tr h="785813">
                <a:tc>
                  <a:txBody>
                    <a:bodyPr/>
                    <a:lstStyle/>
                    <a:p>
                      <a:r>
                        <a:rPr sz="1650" b="0">
                          <a:solidFill>
                            <a:srgbClr val="15231E"/>
                          </a:solidFill>
                          <a:latin typeface="Helvetica Neue"/>
                          <a:ea typeface="Helvetica Neue"/>
                          <a:cs typeface="Helvetica Neue"/>
                        </a:rPr>
                        <a:t>Attic insulation</a:t>
                      </a:r>
                    </a:p>
                  </a:txBody>
                  <a:tcPr marL="91440" marR="91440" marT="45720" marB="45720">
                    <a:solidFill>
                      <a:srgbClr val="FFFFFF"/>
                    </a:solidFill>
                  </a:tcPr>
                </a:tc>
                <a:tc>
                  <a:txBody>
                    <a:bodyPr/>
                    <a:lstStyle/>
                    <a:p>
                      <a:r>
                        <a:rPr sz="1650" b="0">
                          <a:solidFill>
                            <a:srgbClr val="15231E"/>
                          </a:solidFill>
                          <a:latin typeface="Helvetica Neue"/>
                          <a:ea typeface="Helvetica Neue"/>
                          <a:cs typeface="Helvetica Neue"/>
                        </a:rPr>
                        <a:t>€2,000</a:t>
                      </a:r>
                    </a:p>
                  </a:txBody>
                  <a:tcPr marL="91440" marR="91440" marT="45720" marB="45720">
                    <a:solidFill>
                      <a:srgbClr val="FFFFFF"/>
                    </a:solidFill>
                  </a:tcPr>
                </a:tc>
                <a:tc>
                  <a:txBody>
                    <a:bodyPr/>
                    <a:lstStyle/>
                    <a:p>
                      <a:r>
                        <a:rPr sz="1650" b="0">
                          <a:solidFill>
                            <a:srgbClr val="15231E"/>
                          </a:solidFill>
                          <a:latin typeface="Helvetica Neue"/>
                          <a:ea typeface="Helvetica Neue"/>
                          <a:cs typeface="Helvetica Neue"/>
                        </a:rPr>
                        <a:t>€1,500</a:t>
                      </a:r>
                    </a:p>
                  </a:txBody>
                  <a:tcPr marL="91440" marR="91440" marT="45720" marB="45720">
                    <a:solidFill>
                      <a:srgbClr val="FFFFFF"/>
                    </a:solidFill>
                  </a:tcPr>
                </a:tc>
              </a:tr>
              <a:tr h="785813">
                <a:tc>
                  <a:txBody>
                    <a:bodyPr/>
                    <a:lstStyle/>
                    <a:p>
                      <a:r>
                        <a:rPr sz="1650" b="0">
                          <a:solidFill>
                            <a:srgbClr val="15231E"/>
                          </a:solidFill>
                          <a:latin typeface="Helvetica Neue"/>
                          <a:ea typeface="Helvetica Neue"/>
                          <a:cs typeface="Helvetica Neue"/>
                        </a:rPr>
                        <a:t>Cavity wall insulation</a:t>
                      </a:r>
                    </a:p>
                  </a:txBody>
                  <a:tcPr marL="91440" marR="91440" marT="45720" marB="45720">
                    <a:solidFill>
                      <a:srgbClr val="FFFFFF"/>
                    </a:solidFill>
                  </a:tcPr>
                </a:tc>
                <a:tc>
                  <a:txBody>
                    <a:bodyPr/>
                    <a:lstStyle/>
                    <a:p>
                      <a:r>
                        <a:rPr sz="1650" b="0">
                          <a:solidFill>
                            <a:srgbClr val="15231E"/>
                          </a:solidFill>
                          <a:latin typeface="Helvetica Neue"/>
                          <a:ea typeface="Helvetica Neue"/>
                          <a:cs typeface="Helvetica Neue"/>
                        </a:rPr>
                        <a:t>€1,550</a:t>
                      </a:r>
                    </a:p>
                  </a:txBody>
                  <a:tcPr marL="91440" marR="91440" marT="45720" marB="45720">
                    <a:solidFill>
                      <a:srgbClr val="FFFFFF"/>
                    </a:solidFill>
                  </a:tcPr>
                </a:tc>
                <a:tc>
                  <a:txBody>
                    <a:bodyPr/>
                    <a:lstStyle/>
                    <a:p>
                      <a:r>
                        <a:rPr sz="1650" b="0">
                          <a:solidFill>
                            <a:srgbClr val="15231E"/>
                          </a:solidFill>
                          <a:latin typeface="Helvetica Neue"/>
                          <a:ea typeface="Helvetica Neue"/>
                          <a:cs typeface="Helvetica Neue"/>
                        </a:rPr>
                        <a:t>€1,300</a:t>
                      </a:r>
                    </a:p>
                  </a:txBody>
                  <a:tcPr marL="91440" marR="91440" marT="45720" marB="45720">
                    <a:solidFill>
                      <a:srgbClr val="FFFFFF"/>
                    </a:solidFill>
                  </a:tcPr>
                </a:tc>
              </a:tr>
              <a:tr h="785813">
                <a:tc>
                  <a:txBody>
                    <a:bodyPr/>
                    <a:lstStyle/>
                    <a:p>
                      <a:r>
                        <a:rPr sz="1650" b="1">
                          <a:solidFill>
                            <a:srgbClr val="15231E"/>
                          </a:solidFill>
                          <a:latin typeface="Helvetica Neue"/>
                          <a:ea typeface="Helvetica Neue"/>
                          <a:cs typeface="Helvetica Neue"/>
                        </a:rPr>
                        <a:t>TOTAL SHOWN</a:t>
                      </a:r>
                    </a:p>
                  </a:txBody>
                  <a:tcPr marL="91440" marR="91440" marT="45720" marB="45720">
                    <a:solidFill>
                      <a:srgbClr val="E8F1EB"/>
                    </a:solidFill>
                  </a:tcPr>
                </a:tc>
                <a:tc>
                  <a:txBody>
                    <a:bodyPr/>
                    <a:lstStyle/>
                    <a:p>
                      <a:r>
                        <a:rPr sz="1650" b="1">
                          <a:solidFill>
                            <a:srgbClr val="15231E"/>
                          </a:solidFill>
                          <a:latin typeface="Helvetica Neue"/>
                          <a:ea typeface="Helvetica Neue"/>
                          <a:cs typeface="Helvetica Neue"/>
                        </a:rPr>
                        <a:t>€3,550</a:t>
                      </a:r>
                    </a:p>
                  </a:txBody>
                  <a:tcPr marL="91440" marR="91440" marT="45720" marB="45720">
                    <a:solidFill>
                      <a:srgbClr val="E8F1EB"/>
                    </a:solidFill>
                  </a:tcPr>
                </a:tc>
                <a:tc>
                  <a:txBody>
                    <a:bodyPr/>
                    <a:lstStyle/>
                    <a:p>
                      <a:r>
                        <a:rPr sz="1650" b="1">
                          <a:solidFill>
                            <a:srgbClr val="15231E"/>
                          </a:solidFill>
                          <a:latin typeface="Helvetica Neue"/>
                          <a:ea typeface="Helvetica Neue"/>
                          <a:cs typeface="Helvetica Neue"/>
                        </a:rPr>
                        <a:t>€2,800</a:t>
                      </a:r>
                    </a:p>
                  </a:txBody>
                  <a:tcPr marL="91440" marR="91440" marT="45720" marB="45720">
                    <a:solidFill>
                      <a:srgbClr val="E8F1EB"/>
                    </a:solidFill>
                  </a:tcPr>
                </a:tc>
              </a:tr>
            </a:tbl>
          </a:graphicData>
        </a:graphic>
      </p:graphicFrame>
      <p:sp>
        <p:nvSpPr>
          <p:cNvPr id="7" name="">
            <a:extLst xmlns:a="http://schemas.openxmlformats.org/drawingml/2006/main">
              <a:ext uri="{FF2B5EF4-FFF2-40B4-BE49-F238E27FC236}">
                <a16:creationId xmlns:a16="http://schemas.microsoft.com/office/drawing/2014/main" id="{EB21EF78-5E90-4B5A-85F6-EB50B37AEC4F}"/>
              </a:ext>
            </a:extLst>
          </p:cNvPr>
          <p:cNvSpPr>
            <a:spLocks xmlns:a="http://schemas.openxmlformats.org/drawingml/2006/main" noGrp="1"/>
          </p:cNvSpPr>
          <p:nvPr/>
        </p:nvSpPr>
        <p:spPr>
          <a:xfrm xmlns:a="http://schemas.openxmlformats.org/drawingml/2006/main">
            <a:off x="8096250" y="1952625"/>
            <a:ext cx="3333750" cy="3143250"/>
          </a:xfrm>
          <a:prstGeom xmlns:a="http://schemas.openxmlformats.org/drawingml/2006/main" prst="roundRect">
            <a:avLst>
              <a:gd name="adj" fmla="val 5455"/>
            </a:avLst>
          </a:prstGeom>
          <a:solidFill xmlns:a="http://schemas.openxmlformats.org/drawingml/2006/main">
            <a:srgbClr val="0D3B2E"/>
          </a:solidFill>
          <a:ln xmlns:a="http://schemas.openxmlformats.org/drawingml/2006/main" w="0">
            <a:solidFill>
              <a:srgbClr val="0D3B2E"/>
            </a:solidFill>
          </a:ln>
        </p:spPr>
      </p:sp>
      <p:sp>
        <p:nvSpPr>
          <p:cNvPr id="8" name="">
            <a:extLst xmlns:a="http://schemas.openxmlformats.org/drawingml/2006/main">
              <a:ext uri="{FF2B5EF4-FFF2-40B4-BE49-F238E27FC236}">
                <a16:creationId xmlns:a16="http://schemas.microsoft.com/office/drawing/2014/main" id="{6C1CA070-CBEE-4FB0-B2AC-8F758385668D}"/>
              </a:ext>
            </a:extLst>
          </p:cNvPr>
          <p:cNvSpPr>
            <a:spLocks xmlns:a="http://schemas.openxmlformats.org/drawingml/2006/main" noGrp="1"/>
          </p:cNvSpPr>
          <p:nvPr/>
        </p:nvSpPr>
        <p:spPr>
          <a:xfrm xmlns:a="http://schemas.openxmlformats.org/drawingml/2006/main">
            <a:off x="8429625" y="23050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1">
                <a:solidFill>
                  <a:srgbClr val="A7D46F"/>
                </a:solidFill>
                <a:latin typeface="Helvetica Neue"/>
                <a:ea typeface="Helvetica Neue"/>
                <a:cs typeface="Helvetica Neue"/>
              </a:defRPr>
            </a:pPr>
            <a:r>
              <a:rPr sz="1200" b="1">
                <a:solidFill>
                  <a:srgbClr val="A7D46F"/>
                </a:solidFill>
                <a:latin typeface="Helvetica Neue"/>
                <a:ea typeface="Helvetica Neue"/>
                <a:cs typeface="Helvetica Neue"/>
              </a:rPr>
              <a:t>YOU PAY</a:t>
            </a:r>
          </a:p>
        </p:txBody>
      </p:sp>
      <p:sp>
        <p:nvSpPr>
          <p:cNvPr id="9" name="">
            <a:extLst xmlns:a="http://schemas.openxmlformats.org/drawingml/2006/main">
              <a:ext uri="{FF2B5EF4-FFF2-40B4-BE49-F238E27FC236}">
                <a16:creationId xmlns:a16="http://schemas.microsoft.com/office/drawing/2014/main" id="{3A26E1EB-E92A-4E44-A34D-18AD79F6C1B6}"/>
              </a:ext>
            </a:extLst>
          </p:cNvPr>
          <p:cNvSpPr>
            <a:spLocks xmlns:a="http://schemas.openxmlformats.org/drawingml/2006/main" noGrp="1"/>
          </p:cNvSpPr>
          <p:nvPr/>
        </p:nvSpPr>
        <p:spPr>
          <a:xfrm xmlns:a="http://schemas.openxmlformats.org/drawingml/2006/main">
            <a:off x="8382000" y="2781300"/>
            <a:ext cx="2762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FFFFFF"/>
                </a:solidFill>
                <a:latin typeface="Helvetica Neue"/>
                <a:ea typeface="Helvetica Neue"/>
                <a:cs typeface="Helvetica Neue"/>
              </a:defRPr>
            </a:pPr>
            <a:r>
              <a:rPr sz="4875" b="1">
                <a:solidFill>
                  <a:srgbClr val="FFFFFF"/>
                </a:solidFill>
                <a:latin typeface="Helvetica Neue"/>
                <a:ea typeface="Helvetica Neue"/>
                <a:cs typeface="Helvetica Neue"/>
              </a:rPr>
              <a:t>€750</a:t>
            </a:r>
          </a:p>
        </p:txBody>
      </p:sp>
      <p:sp>
        <p:nvSpPr>
          <p:cNvPr id="10" name="">
            <a:extLst xmlns:a="http://schemas.openxmlformats.org/drawingml/2006/main">
              <a:ext uri="{FF2B5EF4-FFF2-40B4-BE49-F238E27FC236}">
                <a16:creationId xmlns:a16="http://schemas.microsoft.com/office/drawing/2014/main" id="{CEAF5D41-EBE1-459D-9BEB-EA877B6307BC}"/>
              </a:ext>
            </a:extLst>
          </p:cNvPr>
          <p:cNvSpPr>
            <a:spLocks xmlns:a="http://schemas.openxmlformats.org/drawingml/2006/main" noGrp="1"/>
          </p:cNvSpPr>
          <p:nvPr/>
        </p:nvSpPr>
        <p:spPr>
          <a:xfrm xmlns:a="http://schemas.openxmlformats.org/drawingml/2006/main">
            <a:off x="8572500" y="3943350"/>
            <a:ext cx="2381250" cy="0"/>
          </a:xfrm>
          <a:prstGeom xmlns:a="http://schemas.openxmlformats.org/drawingml/2006/main" prst="line">
            <a:avLst/>
          </a:prstGeom>
          <a:noFill xmlns:a="http://schemas.openxmlformats.org/drawingml/2006/main"/>
          <a:ln xmlns:a="http://schemas.openxmlformats.org/drawingml/2006/main" w="19050">
            <a:solidFill>
              <a:srgbClr val="5E806F"/>
            </a:solidFill>
            <a:prstDash val="solid"/>
          </a:ln>
        </p:spPr>
      </p:sp>
      <p:sp>
        <p:nvSpPr>
          <p:cNvPr id="11" name="">
            <a:extLst xmlns:a="http://schemas.openxmlformats.org/drawingml/2006/main">
              <a:ext uri="{FF2B5EF4-FFF2-40B4-BE49-F238E27FC236}">
                <a16:creationId xmlns:a16="http://schemas.microsoft.com/office/drawing/2014/main" id="{817D3E8E-B713-4401-A4A5-CEC3EC587B3C}"/>
              </a:ext>
            </a:extLst>
          </p:cNvPr>
          <p:cNvSpPr>
            <a:spLocks xmlns:a="http://schemas.openxmlformats.org/drawingml/2006/main" noGrp="1"/>
          </p:cNvSpPr>
          <p:nvPr/>
        </p:nvSpPr>
        <p:spPr>
          <a:xfrm xmlns:a="http://schemas.openxmlformats.org/drawingml/2006/main">
            <a:off x="8477250" y="417195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€3,550 median cost</a:t>
            </a:r>
          </a:p>
          <a:p xmlns:a="http://schemas.openxmlformats.org/drawingml/2006/main">
            <a:pPr>
              <a:defRPr sz="1500" b="0">
                <a:solidFill>
                  <a:srgbClr val="DCE9E1"/>
                </a:solidFill>
                <a:latin typeface="Helvetica Neue"/>
                <a:ea typeface="Helvetica Neue"/>
                <a:cs typeface="Helvetica Neue"/>
              </a:defRPr>
            </a:pPr>
            <a:r>
              <a:rPr sz="1500" b="0">
                <a:solidFill>
                  <a:srgbClr val="DCE9E1"/>
                </a:solidFill>
                <a:latin typeface="Helvetica Neue"/>
                <a:ea typeface="Helvetica Neue"/>
                <a:cs typeface="Helvetica Neue"/>
              </a:rPr>
              <a:t>minus €2,800 SEAI grant</a:t>
            </a:r>
          </a:p>
        </p:txBody>
      </p:sp>
      <p:sp>
        <p:nvSpPr>
          <p:cNvPr id="12" name="">
            <a:extLst xmlns:a="http://schemas.openxmlformats.org/drawingml/2006/main">
              <a:ext uri="{FF2B5EF4-FFF2-40B4-BE49-F238E27FC236}">
                <a16:creationId xmlns:a16="http://schemas.microsoft.com/office/drawing/2014/main" id="{8AA8F264-D180-4C54-BF21-3F203AAF9DD0}"/>
              </a:ext>
            </a:extLst>
          </p:cNvPr>
          <p:cNvSpPr>
            <a:spLocks xmlns:a="http://schemas.openxmlformats.org/drawingml/2006/main" noGrp="1"/>
          </p:cNvSpPr>
          <p:nvPr/>
        </p:nvSpPr>
        <p:spPr>
          <a:xfrm xmlns:a="http://schemas.openxmlformats.org/drawingml/2006/main">
            <a:off x="457200" y="552450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0">
                <a:solidFill>
                  <a:srgbClr val="5E6C66"/>
                </a:solidFill>
                <a:latin typeface="Helvetica Neue"/>
                <a:ea typeface="Helvetica Neue"/>
                <a:cs typeface="Helvetica Neue"/>
              </a:defRPr>
            </a:pPr>
            <a:r>
              <a:rPr sz="1275" b="0">
                <a:solidFill>
                  <a:srgbClr val="5E6C66"/>
                </a:solidFill>
                <a:latin typeface="Helvetica Neue"/>
                <a:ea typeface="Helvetica Neue"/>
                <a:cs typeface="Helvetica Neue"/>
              </a:rPr>
              <a:t>Standard rates subject to eligibility. Priced subset only. Medians are planning benchmarks, not quotations.</a:t>
            </a:r>
          </a:p>
        </p:txBody>
      </p:sp>
    </p:spTree>
    <p:extLst>
      <p:ext uri="{BB962C8B-B14F-4D97-AF65-F5344CB8AC3E}">
        <p14:creationId xmlns:p14="http://schemas.microsoft.com/office/powerpoint/2010/main" val="3298548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AE1B6C-2BE0-48FD-A0CB-2319E3CB8C65}"/>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TWO SYNTHETIC HOMES</a:t>
            </a:r>
          </a:p>
        </p:txBody>
      </p:sp>
      <p:sp>
        <p:nvSpPr>
          <p:cNvPr id="2" name="">
            <a:extLst xmlns:a="http://schemas.openxmlformats.org/drawingml/2006/main">
              <a:ext uri="{FF2B5EF4-FFF2-40B4-BE49-F238E27FC236}">
                <a16:creationId xmlns:a16="http://schemas.microsoft.com/office/drawing/2014/main" id="{8A3C4984-09AC-473D-A608-53876FF87009}"/>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The right sequence depends on the building</a:t>
            </a:r>
          </a:p>
        </p:txBody>
      </p:sp>
      <p:sp>
        <p:nvSpPr>
          <p:cNvPr id="3" name="">
            <a:extLst xmlns:a="http://schemas.openxmlformats.org/drawingml/2006/main">
              <a:ext uri="{FF2B5EF4-FFF2-40B4-BE49-F238E27FC236}">
                <a16:creationId xmlns:a16="http://schemas.microsoft.com/office/drawing/2014/main" id="{1A7B25DB-B8B0-49A9-93A2-289C85320BA0}"/>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9C03738D-E2EF-4CD7-9528-6191A0979268}"/>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1502e8ac8db4be3"/>
          <a:srcRect xmlns:a="http://schemas.openxmlformats.org/drawingml/2006/main" l="0" t="10339" r="0" b="10339"/>
          <a:stretch xmlns:a="http://schemas.openxmlformats.org/drawingml/2006/main">
            <a:fillRect l="0" t="0" r="0" b="0"/>
          </a:stretch>
        </p:blipFill>
        <p:spPr>
          <a:xfrm xmlns:a="http://schemas.openxmlformats.org/drawingml/2006/main">
            <a:off x="457200" y="1600200"/>
            <a:ext cx="5334000" cy="238125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8845953e7db4dfe"/>
          <a:srcRect xmlns:a="http://schemas.openxmlformats.org/drawingml/2006/main" l="0" t="20238" r="0" b="20238"/>
          <a:stretch xmlns:a="http://schemas.openxmlformats.org/drawingml/2006/main">
            <a:fillRect l="0" t="0" r="0" b="0"/>
          </a:stretch>
        </p:blipFill>
        <p:spPr>
          <a:xfrm xmlns:a="http://schemas.openxmlformats.org/drawingml/2006/main">
            <a:off x="6400800" y="1600200"/>
            <a:ext cx="5334000" cy="2381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8D7B4FB-3601-49FB-83F2-79A2DD8DA911}"/>
              </a:ext>
            </a:extLst>
          </p:cNvPr>
          <p:cNvSpPr>
            <a:spLocks xmlns:a="http://schemas.openxmlformats.org/drawingml/2006/main" noGrp="1"/>
          </p:cNvSpPr>
          <p:nvPr/>
        </p:nvSpPr>
        <p:spPr>
          <a:xfrm xmlns:a="http://schemas.openxmlformats.org/drawingml/2006/main">
            <a:off x="457200" y="3714750"/>
            <a:ext cx="5334000" cy="2000250"/>
          </a:xfrm>
          <a:prstGeom xmlns:a="http://schemas.openxmlformats.org/drawingml/2006/main" prst="rect">
            <a:avLst/>
          </a:prstGeom>
          <a:solidFill xmlns:a="http://schemas.openxmlformats.org/drawingml/2006/main">
            <a:srgbClr val="E8F1EB"/>
          </a:solidFill>
          <a:ln xmlns:a="http://schemas.openxmlformats.org/drawingml/2006/main" w="0">
            <a:solidFill>
              <a:srgbClr val="E8F1EB"/>
            </a:solidFill>
          </a:ln>
        </p:spPr>
      </p:sp>
      <p:sp>
        <p:nvSpPr>
          <p:cNvPr id="8" name="">
            <a:extLst xmlns:a="http://schemas.openxmlformats.org/drawingml/2006/main">
              <a:ext uri="{FF2B5EF4-FFF2-40B4-BE49-F238E27FC236}">
                <a16:creationId xmlns:a16="http://schemas.microsoft.com/office/drawing/2014/main" id="{03C71839-5B50-4870-AD39-158AADA001C9}"/>
              </a:ext>
            </a:extLst>
          </p:cNvPr>
          <p:cNvSpPr>
            <a:spLocks xmlns:a="http://schemas.openxmlformats.org/drawingml/2006/main" noGrp="1"/>
          </p:cNvSpPr>
          <p:nvPr/>
        </p:nvSpPr>
        <p:spPr>
          <a:xfrm xmlns:a="http://schemas.openxmlformats.org/drawingml/2006/main">
            <a:off x="6400800" y="3714750"/>
            <a:ext cx="5334000" cy="2000250"/>
          </a:xfrm>
          <a:prstGeom xmlns:a="http://schemas.openxmlformats.org/drawingml/2006/main" prst="rect">
            <a:avLst/>
          </a:prstGeom>
          <a:solidFill xmlns:a="http://schemas.openxmlformats.org/drawingml/2006/main">
            <a:srgbClr val="F7F5EE"/>
          </a:solidFill>
          <a:ln xmlns:a="http://schemas.openxmlformats.org/drawingml/2006/main" w="0">
            <a:solidFill>
              <a:srgbClr val="F7F5EE"/>
            </a:solidFill>
          </a:ln>
        </p:spPr>
      </p:sp>
      <p:sp>
        <p:nvSpPr>
          <p:cNvPr id="9" name="">
            <a:extLst xmlns:a="http://schemas.openxmlformats.org/drawingml/2006/main">
              <a:ext uri="{FF2B5EF4-FFF2-40B4-BE49-F238E27FC236}">
                <a16:creationId xmlns:a16="http://schemas.microsoft.com/office/drawing/2014/main" id="{5F65859D-ED7F-4E7C-B941-A2A3544F26E5}"/>
              </a:ext>
            </a:extLst>
          </p:cNvPr>
          <p:cNvSpPr>
            <a:spLocks xmlns:a="http://schemas.openxmlformats.org/drawingml/2006/main" noGrp="1"/>
          </p:cNvSpPr>
          <p:nvPr/>
        </p:nvSpPr>
        <p:spPr>
          <a:xfrm xmlns:a="http://schemas.openxmlformats.org/drawingml/2006/main">
            <a:off x="7239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0D3B2E"/>
                </a:solidFill>
                <a:latin typeface="Helvetica Neue"/>
                <a:ea typeface="Helvetica Neue"/>
                <a:cs typeface="Helvetica Neue"/>
              </a:defRPr>
            </a:pPr>
            <a:r>
              <a:rPr sz="1425" b="1">
                <a:solidFill>
                  <a:srgbClr val="0D3B2E"/>
                </a:solidFill>
                <a:latin typeface="Helvetica Neue"/>
                <a:ea typeface="Helvetica Neue"/>
                <a:cs typeface="Helvetica Neue"/>
              </a:rPr>
              <a:t>SEMI-DETACHED HOME</a:t>
            </a:r>
          </a:p>
        </p:txBody>
      </p:sp>
      <p:sp>
        <p:nvSpPr>
          <p:cNvPr id="10" name="">
            <a:extLst xmlns:a="http://schemas.openxmlformats.org/drawingml/2006/main">
              <a:ext uri="{FF2B5EF4-FFF2-40B4-BE49-F238E27FC236}">
                <a16:creationId xmlns:a16="http://schemas.microsoft.com/office/drawing/2014/main" id="{3BBFF475-48E0-4587-8421-8E893EF83BF0}"/>
              </a:ext>
            </a:extLst>
          </p:cNvPr>
          <p:cNvSpPr>
            <a:spLocks xmlns:a="http://schemas.openxmlformats.org/drawingml/2006/main" noGrp="1"/>
          </p:cNvSpPr>
          <p:nvPr/>
        </p:nvSpPr>
        <p:spPr>
          <a:xfrm xmlns:a="http://schemas.openxmlformats.org/drawingml/2006/main">
            <a:off x="723900" y="4457700"/>
            <a:ext cx="4667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1  Check fabric and ventilation</a:t>
            </a:r>
          </a:p>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2  Plan insulation improvements</a:t>
            </a:r>
          </a:p>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3  Assess heat-pump readiness</a:t>
            </a:r>
          </a:p>
        </p:txBody>
      </p:sp>
      <p:sp>
        <p:nvSpPr>
          <p:cNvPr id="11" name="">
            <a:extLst xmlns:a="http://schemas.openxmlformats.org/drawingml/2006/main">
              <a:ext uri="{FF2B5EF4-FFF2-40B4-BE49-F238E27FC236}">
                <a16:creationId xmlns:a16="http://schemas.microsoft.com/office/drawing/2014/main" id="{F5B96219-E2F8-47CF-A88B-1DBC4BE723BC}"/>
              </a:ext>
            </a:extLst>
          </p:cNvPr>
          <p:cNvSpPr>
            <a:spLocks xmlns:a="http://schemas.openxmlformats.org/drawingml/2006/main" noGrp="1"/>
          </p:cNvSpPr>
          <p:nvPr/>
        </p:nvSpPr>
        <p:spPr>
          <a:xfrm xmlns:a="http://schemas.openxmlformats.org/drawingml/2006/main">
            <a:off x="66675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0D3B2E"/>
                </a:solidFill>
                <a:latin typeface="Helvetica Neue"/>
                <a:ea typeface="Helvetica Neue"/>
                <a:cs typeface="Helvetica Neue"/>
              </a:defRPr>
            </a:pPr>
            <a:r>
              <a:rPr sz="1425" b="1">
                <a:solidFill>
                  <a:srgbClr val="0D3B2E"/>
                </a:solidFill>
                <a:latin typeface="Helvetica Neue"/>
                <a:ea typeface="Helvetica Neue"/>
                <a:cs typeface="Helvetica Neue"/>
              </a:rPr>
              <a:t>OLDER SOLID-WALL COTTAGE</a:t>
            </a:r>
          </a:p>
        </p:txBody>
      </p:sp>
      <p:sp>
        <p:nvSpPr>
          <p:cNvPr id="12" name="">
            <a:extLst xmlns:a="http://schemas.openxmlformats.org/drawingml/2006/main">
              <a:ext uri="{FF2B5EF4-FFF2-40B4-BE49-F238E27FC236}">
                <a16:creationId xmlns:a16="http://schemas.microsoft.com/office/drawing/2014/main" id="{892D4840-0FC9-43CE-893B-DDF1AE7AFA55}"/>
              </a:ext>
            </a:extLst>
          </p:cNvPr>
          <p:cNvSpPr>
            <a:spLocks xmlns:a="http://schemas.openxmlformats.org/drawingml/2006/main" noGrp="1"/>
          </p:cNvSpPr>
          <p:nvPr/>
        </p:nvSpPr>
        <p:spPr>
          <a:xfrm xmlns:a="http://schemas.openxmlformats.org/drawingml/2006/main">
            <a:off x="6667500" y="4457700"/>
            <a:ext cx="4667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1  Investigate moisture and condition</a:t>
            </a:r>
          </a:p>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2  Seek traditional-building advice</a:t>
            </a:r>
          </a:p>
          <a:p xmlns:a="http://schemas.openxmlformats.org/drawingml/2006/main">
            <a:pPr>
              <a:defRPr sz="1650" b="0">
                <a:solidFill>
                  <a:srgbClr val="15231E"/>
                </a:solidFill>
                <a:latin typeface="Helvetica Neue"/>
                <a:ea typeface="Helvetica Neue"/>
                <a:cs typeface="Helvetica Neue"/>
              </a:defRPr>
            </a:pPr>
            <a:r>
              <a:rPr sz="1650" b="0">
                <a:solidFill>
                  <a:srgbClr val="15231E"/>
                </a:solidFill>
                <a:latin typeface="Helvetica Neue"/>
                <a:ea typeface="Helvetica Neue"/>
                <a:cs typeface="Helvetica Neue"/>
              </a:rPr>
              <a:t>3  Resolve risks before insulation</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bg>
      <p:bgPr>
        <a:solidFill xmlns:a="http://schemas.openxmlformats.org/drawingml/2006/main">
          <a:srgbClr val="0D3B2E"/>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CA06C4C-22F3-4EC5-BC41-C537AAB75CD3}"/>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A7D46F"/>
                </a:solidFill>
                <a:latin typeface="Helvetica Neue"/>
                <a:ea typeface="Helvetica Neue"/>
                <a:cs typeface="Helvetica Neue"/>
              </a:defRPr>
            </a:pPr>
            <a:r>
              <a:rPr sz="1050" b="1">
                <a:solidFill>
                  <a:srgbClr val="A7D46F"/>
                </a:solidFill>
                <a:latin typeface="Helvetica Neue"/>
                <a:ea typeface="Helvetica Neue"/>
                <a:cs typeface="Helvetica Neue"/>
              </a:rPr>
              <a:t>HOW IT WORKS</a:t>
            </a:r>
          </a:p>
        </p:txBody>
      </p:sp>
      <p:sp>
        <p:nvSpPr>
          <p:cNvPr id="2" name="">
            <a:extLst xmlns:a="http://schemas.openxmlformats.org/drawingml/2006/main">
              <a:ext uri="{FF2B5EF4-FFF2-40B4-BE49-F238E27FC236}">
                <a16:creationId xmlns:a16="http://schemas.microsoft.com/office/drawing/2014/main" id="{220861BA-8C7D-44EC-BE5C-6389860D623F}"/>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FFFFFF"/>
                </a:solidFill>
                <a:latin typeface="Helvetica Neue"/>
                <a:ea typeface="Helvetica Neue"/>
                <a:cs typeface="Helvetica Neue"/>
              </a:defRPr>
            </a:pPr>
            <a:r>
              <a:rPr sz="3150" b="1">
                <a:solidFill>
                  <a:srgbClr val="FFFFFF"/>
                </a:solidFill>
                <a:latin typeface="Helvetica Neue"/>
                <a:ea typeface="Helvetica Neue"/>
                <a:cs typeface="Helvetica Neue"/>
              </a:rPr>
              <a:t>AI handles the conversation; rules control the plan</a:t>
            </a:r>
          </a:p>
        </p:txBody>
      </p:sp>
      <p:sp>
        <p:nvSpPr>
          <p:cNvPr id="3" name="">
            <a:extLst xmlns:a="http://schemas.openxmlformats.org/drawingml/2006/main">
              <a:ext uri="{FF2B5EF4-FFF2-40B4-BE49-F238E27FC236}">
                <a16:creationId xmlns:a16="http://schemas.microsoft.com/office/drawing/2014/main" id="{F9399A61-DD58-4A6C-90C8-3F10170DB3A3}"/>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CFE0D5"/>
                </a:solidFill>
                <a:latin typeface="Helvetica Neue"/>
                <a:ea typeface="Helvetica Neue"/>
                <a:cs typeface="Helvetica Neue"/>
              </a:defRPr>
            </a:pPr>
            <a:r>
              <a:rPr sz="900" b="1">
                <a:solidFill>
                  <a:srgbClr val="CFE0D5"/>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D8DD5E9E-9B10-4E42-BF6D-1FF9EEA9411F}"/>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CFE0D5"/>
                </a:solidFill>
                <a:latin typeface="Helvetica Neue"/>
                <a:ea typeface="Helvetica Neue"/>
                <a:cs typeface="Helvetica Neue"/>
              </a:defRPr>
            </a:pPr>
            <a:r>
              <a:rPr sz="900" b="1">
                <a:solidFill>
                  <a:srgbClr val="CFE0D5"/>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8B63755F-52E3-4B2B-B5E6-196122E99A0E}"/>
              </a:ext>
            </a:extLst>
          </p:cNvPr>
          <p:cNvSpPr>
            <a:spLocks xmlns:a="http://schemas.openxmlformats.org/drawingml/2006/main" noGrp="1"/>
          </p:cNvSpPr>
          <p:nvPr/>
        </p:nvSpPr>
        <p:spPr>
          <a:xfrm xmlns:a="http://schemas.openxmlformats.org/drawingml/2006/main">
            <a:off x="457200" y="2238375"/>
            <a:ext cx="2333625"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0">
            <a:solidFill>
              <a:srgbClr val="FFFFFF"/>
            </a:solidFill>
          </a:ln>
        </p:spPr>
      </p:sp>
      <p:sp>
        <p:nvSpPr>
          <p:cNvPr id="6" name="">
            <a:extLst xmlns:a="http://schemas.openxmlformats.org/drawingml/2006/main">
              <a:ext uri="{FF2B5EF4-FFF2-40B4-BE49-F238E27FC236}">
                <a16:creationId xmlns:a16="http://schemas.microsoft.com/office/drawing/2014/main" id="{4AEE22F9-4B57-4775-92A5-D13128DFF5CC}"/>
              </a:ext>
            </a:extLst>
          </p:cNvPr>
          <p:cNvSpPr>
            <a:spLocks xmlns:a="http://schemas.openxmlformats.org/drawingml/2006/main" noGrp="1"/>
          </p:cNvSpPr>
          <p:nvPr/>
        </p:nvSpPr>
        <p:spPr>
          <a:xfrm xmlns:a="http://schemas.openxmlformats.org/drawingml/2006/main">
            <a:off x="666750" y="24193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D3B2E"/>
                </a:solidFill>
                <a:latin typeface="Helvetica Neue"/>
                <a:ea typeface="Helvetica Neue"/>
                <a:cs typeface="Helvetica Neue"/>
              </a:defRPr>
            </a:pPr>
            <a:r>
              <a:rPr sz="1275" b="1">
                <a:solidFill>
                  <a:srgbClr val="0D3B2E"/>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3CD80549-8B1C-47B3-8133-B31AA054309D}"/>
              </a:ext>
            </a:extLst>
          </p:cNvPr>
          <p:cNvSpPr>
            <a:spLocks xmlns:a="http://schemas.openxmlformats.org/drawingml/2006/main" noGrp="1"/>
          </p:cNvSpPr>
          <p:nvPr/>
        </p:nvSpPr>
        <p:spPr>
          <a:xfrm xmlns:a="http://schemas.openxmlformats.org/drawingml/2006/main">
            <a:off x="666750" y="28956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D3B2E"/>
                </a:solidFill>
                <a:latin typeface="Helvetica Neue"/>
                <a:ea typeface="Helvetica Neue"/>
                <a:cs typeface="Helvetica Neue"/>
              </a:defRPr>
            </a:pPr>
            <a:r>
              <a:rPr sz="1725" b="1">
                <a:solidFill>
                  <a:srgbClr val="0D3B2E"/>
                </a:solidFill>
                <a:latin typeface="Helvetica Neue"/>
                <a:ea typeface="Helvetica Neue"/>
                <a:cs typeface="Helvetica Neue"/>
              </a:rPr>
              <a:t>INTERVIEW</a:t>
            </a:r>
          </a:p>
        </p:txBody>
      </p:sp>
      <p:sp>
        <p:nvSpPr>
          <p:cNvPr id="8" name="">
            <a:extLst xmlns:a="http://schemas.openxmlformats.org/drawingml/2006/main">
              <a:ext uri="{FF2B5EF4-FFF2-40B4-BE49-F238E27FC236}">
                <a16:creationId xmlns:a16="http://schemas.microsoft.com/office/drawing/2014/main" id="{54B1E455-A4F0-4314-8E8A-C0C698CBBA2F}"/>
              </a:ext>
            </a:extLst>
          </p:cNvPr>
          <p:cNvSpPr>
            <a:spLocks xmlns:a="http://schemas.openxmlformats.org/drawingml/2006/main" noGrp="1"/>
          </p:cNvSpPr>
          <p:nvPr/>
        </p:nvSpPr>
        <p:spPr>
          <a:xfrm xmlns:a="http://schemas.openxmlformats.org/drawingml/2006/main">
            <a:off x="666750" y="3381375"/>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5231E"/>
                </a:solidFill>
                <a:latin typeface="Helvetica Neue"/>
                <a:ea typeface="Helvetica Neue"/>
                <a:cs typeface="Helvetica Neue"/>
              </a:defRPr>
            </a:pPr>
            <a:r>
              <a:rPr sz="1500" b="0">
                <a:solidFill>
                  <a:srgbClr val="15231E"/>
                </a:solidFill>
                <a:latin typeface="Helvetica Neue"/>
                <a:ea typeface="Helvetica Neue"/>
                <a:cs typeface="Helvetica Neue"/>
              </a:rPr>
              <a:t>Targeted follow-up questions</a:t>
            </a:r>
          </a:p>
        </p:txBody>
      </p:sp>
      <p:sp>
        <p:nvSpPr>
          <p:cNvPr id="9" name="">
            <a:extLst xmlns:a="http://schemas.openxmlformats.org/drawingml/2006/main">
              <a:ext uri="{FF2B5EF4-FFF2-40B4-BE49-F238E27FC236}">
                <a16:creationId xmlns:a16="http://schemas.microsoft.com/office/drawing/2014/main" id="{D3F762CA-652C-4A61-B00D-9ED9C5EEEEFE}"/>
              </a:ext>
            </a:extLst>
          </p:cNvPr>
          <p:cNvSpPr>
            <a:spLocks xmlns:a="http://schemas.openxmlformats.org/drawingml/2006/main" noGrp="1"/>
          </p:cNvSpPr>
          <p:nvPr/>
        </p:nvSpPr>
        <p:spPr>
          <a:xfrm xmlns:a="http://schemas.openxmlformats.org/drawingml/2006/main">
            <a:off x="2895600" y="2905125"/>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A7D46F"/>
                </a:solidFill>
                <a:latin typeface="Helvetica Neue"/>
                <a:ea typeface="Helvetica Neue"/>
                <a:cs typeface="Helvetica Neue"/>
              </a:defRPr>
            </a:pPr>
            <a:r>
              <a:rPr sz="3450" b="1">
                <a:solidFill>
                  <a:srgbClr val="A7D46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9CE8A28D-8F29-4C27-A5BB-B65027934713}"/>
              </a:ext>
            </a:extLst>
          </p:cNvPr>
          <p:cNvSpPr>
            <a:spLocks xmlns:a="http://schemas.openxmlformats.org/drawingml/2006/main" noGrp="1"/>
          </p:cNvSpPr>
          <p:nvPr/>
        </p:nvSpPr>
        <p:spPr>
          <a:xfrm xmlns:a="http://schemas.openxmlformats.org/drawingml/2006/main">
            <a:off x="3314700" y="2238375"/>
            <a:ext cx="2333625"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0">
            <a:solidFill>
              <a:srgbClr val="FFFFFF"/>
            </a:solidFill>
          </a:ln>
        </p:spPr>
      </p:sp>
      <p:sp>
        <p:nvSpPr>
          <p:cNvPr id="11" name="">
            <a:extLst xmlns:a="http://schemas.openxmlformats.org/drawingml/2006/main">
              <a:ext uri="{FF2B5EF4-FFF2-40B4-BE49-F238E27FC236}">
                <a16:creationId xmlns:a16="http://schemas.microsoft.com/office/drawing/2014/main" id="{F339056C-0562-4FB0-88A5-8D070653190E}"/>
              </a:ext>
            </a:extLst>
          </p:cNvPr>
          <p:cNvSpPr>
            <a:spLocks xmlns:a="http://schemas.openxmlformats.org/drawingml/2006/main" noGrp="1"/>
          </p:cNvSpPr>
          <p:nvPr/>
        </p:nvSpPr>
        <p:spPr>
          <a:xfrm xmlns:a="http://schemas.openxmlformats.org/drawingml/2006/main">
            <a:off x="3524250" y="24193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D3B2E"/>
                </a:solidFill>
                <a:latin typeface="Helvetica Neue"/>
                <a:ea typeface="Helvetica Neue"/>
                <a:cs typeface="Helvetica Neue"/>
              </a:defRPr>
            </a:pPr>
            <a:r>
              <a:rPr sz="1275" b="1">
                <a:solidFill>
                  <a:srgbClr val="0D3B2E"/>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022A1F56-9155-4EAD-8C5A-6C2314B079DD}"/>
              </a:ext>
            </a:extLst>
          </p:cNvPr>
          <p:cNvSpPr>
            <a:spLocks xmlns:a="http://schemas.openxmlformats.org/drawingml/2006/main" noGrp="1"/>
          </p:cNvSpPr>
          <p:nvPr/>
        </p:nvSpPr>
        <p:spPr>
          <a:xfrm xmlns:a="http://schemas.openxmlformats.org/drawingml/2006/main">
            <a:off x="3524250" y="28956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D3B2E"/>
                </a:solidFill>
                <a:latin typeface="Helvetica Neue"/>
                <a:ea typeface="Helvetica Neue"/>
                <a:cs typeface="Helvetica Neue"/>
              </a:defRPr>
            </a:pPr>
            <a:r>
              <a:rPr sz="1725" b="1">
                <a:solidFill>
                  <a:srgbClr val="0D3B2E"/>
                </a:solidFill>
                <a:latin typeface="Helvetica Neue"/>
                <a:ea typeface="Helvetica Neue"/>
                <a:cs typeface="Helvetica Neue"/>
              </a:rPr>
              <a:t>RETRIEVE</a:t>
            </a:r>
          </a:p>
        </p:txBody>
      </p:sp>
      <p:sp>
        <p:nvSpPr>
          <p:cNvPr id="13" name="">
            <a:extLst xmlns:a="http://schemas.openxmlformats.org/drawingml/2006/main">
              <a:ext uri="{FF2B5EF4-FFF2-40B4-BE49-F238E27FC236}">
                <a16:creationId xmlns:a16="http://schemas.microsoft.com/office/drawing/2014/main" id="{4C558511-848C-4BFF-B74A-74C66C1D399D}"/>
              </a:ext>
            </a:extLst>
          </p:cNvPr>
          <p:cNvSpPr>
            <a:spLocks xmlns:a="http://schemas.openxmlformats.org/drawingml/2006/main" noGrp="1"/>
          </p:cNvSpPr>
          <p:nvPr/>
        </p:nvSpPr>
        <p:spPr>
          <a:xfrm xmlns:a="http://schemas.openxmlformats.org/drawingml/2006/main">
            <a:off x="3524250" y="3381375"/>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5231E"/>
                </a:solidFill>
                <a:latin typeface="Helvetica Neue"/>
                <a:ea typeface="Helvetica Neue"/>
                <a:cs typeface="Helvetica Neue"/>
              </a:defRPr>
            </a:pPr>
            <a:r>
              <a:rPr sz="1500" b="0">
                <a:solidFill>
                  <a:srgbClr val="15231E"/>
                </a:solidFill>
                <a:latin typeface="Helvetica Neue"/>
                <a:ea typeface="Helvetica Neue"/>
                <a:cs typeface="Helvetica Neue"/>
              </a:rPr>
              <a:t>Dated SEAI scheme information</a:t>
            </a:r>
          </a:p>
        </p:txBody>
      </p:sp>
      <p:sp>
        <p:nvSpPr>
          <p:cNvPr id="14" name="">
            <a:extLst xmlns:a="http://schemas.openxmlformats.org/drawingml/2006/main">
              <a:ext uri="{FF2B5EF4-FFF2-40B4-BE49-F238E27FC236}">
                <a16:creationId xmlns:a16="http://schemas.microsoft.com/office/drawing/2014/main" id="{D7857804-052F-4273-84D0-D02ACAC00E88}"/>
              </a:ext>
            </a:extLst>
          </p:cNvPr>
          <p:cNvSpPr>
            <a:spLocks xmlns:a="http://schemas.openxmlformats.org/drawingml/2006/main" noGrp="1"/>
          </p:cNvSpPr>
          <p:nvPr/>
        </p:nvSpPr>
        <p:spPr>
          <a:xfrm xmlns:a="http://schemas.openxmlformats.org/drawingml/2006/main">
            <a:off x="5753100" y="2905125"/>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A7D46F"/>
                </a:solidFill>
                <a:latin typeface="Helvetica Neue"/>
                <a:ea typeface="Helvetica Neue"/>
                <a:cs typeface="Helvetica Neue"/>
              </a:defRPr>
            </a:pPr>
            <a:r>
              <a:rPr sz="3450" b="1">
                <a:solidFill>
                  <a:srgbClr val="A7D46F"/>
                </a:solidFill>
                <a:latin typeface="Helvetica Neue"/>
                <a:ea typeface="Helvetica Neue"/>
                <a:cs typeface="Helvetica Neue"/>
              </a:rPr>
              <a:t>›</a:t>
            </a:r>
          </a:p>
        </p:txBody>
      </p:sp>
      <p:sp>
        <p:nvSpPr>
          <p:cNvPr id="15" name="">
            <a:extLst xmlns:a="http://schemas.openxmlformats.org/drawingml/2006/main">
              <a:ext uri="{FF2B5EF4-FFF2-40B4-BE49-F238E27FC236}">
                <a16:creationId xmlns:a16="http://schemas.microsoft.com/office/drawing/2014/main" id="{AF79A431-0BC2-4793-82F9-C85351C34F6B}"/>
              </a:ext>
            </a:extLst>
          </p:cNvPr>
          <p:cNvSpPr>
            <a:spLocks xmlns:a="http://schemas.openxmlformats.org/drawingml/2006/main" noGrp="1"/>
          </p:cNvSpPr>
          <p:nvPr/>
        </p:nvSpPr>
        <p:spPr>
          <a:xfrm xmlns:a="http://schemas.openxmlformats.org/drawingml/2006/main">
            <a:off x="6172200" y="2238375"/>
            <a:ext cx="2333625" cy="2095500"/>
          </a:xfrm>
          <a:prstGeom xmlns:a="http://schemas.openxmlformats.org/drawingml/2006/main" prst="roundRect">
            <a:avLst>
              <a:gd name="adj" fmla="val 8182"/>
            </a:avLst>
          </a:prstGeom>
          <a:solidFill xmlns:a="http://schemas.openxmlformats.org/drawingml/2006/main">
            <a:srgbClr val="A7D46F"/>
          </a:solidFill>
          <a:ln xmlns:a="http://schemas.openxmlformats.org/drawingml/2006/main" w="0">
            <a:solidFill>
              <a:srgbClr val="A7D46F"/>
            </a:solidFill>
          </a:ln>
        </p:spPr>
      </p:sp>
      <p:sp>
        <p:nvSpPr>
          <p:cNvPr id="16" name="">
            <a:extLst xmlns:a="http://schemas.openxmlformats.org/drawingml/2006/main">
              <a:ext uri="{FF2B5EF4-FFF2-40B4-BE49-F238E27FC236}">
                <a16:creationId xmlns:a16="http://schemas.microsoft.com/office/drawing/2014/main" id="{677219E3-8F12-4237-988E-3E718E6058F5}"/>
              </a:ext>
            </a:extLst>
          </p:cNvPr>
          <p:cNvSpPr>
            <a:spLocks xmlns:a="http://schemas.openxmlformats.org/drawingml/2006/main" noGrp="1"/>
          </p:cNvSpPr>
          <p:nvPr/>
        </p:nvSpPr>
        <p:spPr>
          <a:xfrm xmlns:a="http://schemas.openxmlformats.org/drawingml/2006/main">
            <a:off x="6381750" y="24193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D3B2E"/>
                </a:solidFill>
                <a:latin typeface="Helvetica Neue"/>
                <a:ea typeface="Helvetica Neue"/>
                <a:cs typeface="Helvetica Neue"/>
              </a:defRPr>
            </a:pPr>
            <a:r>
              <a:rPr sz="1275" b="1">
                <a:solidFill>
                  <a:srgbClr val="0D3B2E"/>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6702D374-3E40-4080-B272-A2AC555BF2CF}"/>
              </a:ext>
            </a:extLst>
          </p:cNvPr>
          <p:cNvSpPr>
            <a:spLocks xmlns:a="http://schemas.openxmlformats.org/drawingml/2006/main" noGrp="1"/>
          </p:cNvSpPr>
          <p:nvPr/>
        </p:nvSpPr>
        <p:spPr>
          <a:xfrm xmlns:a="http://schemas.openxmlformats.org/drawingml/2006/main">
            <a:off x="6381750" y="28956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D3B2E"/>
                </a:solidFill>
                <a:latin typeface="Helvetica Neue"/>
                <a:ea typeface="Helvetica Neue"/>
                <a:cs typeface="Helvetica Neue"/>
              </a:defRPr>
            </a:pPr>
            <a:r>
              <a:rPr sz="1725" b="1">
                <a:solidFill>
                  <a:srgbClr val="0D3B2E"/>
                </a:solidFill>
                <a:latin typeface="Helvetica Neue"/>
                <a:ea typeface="Helvetica Neue"/>
                <a:cs typeface="Helvetica Neue"/>
              </a:rPr>
              <a:t>CHECK</a:t>
            </a:r>
          </a:p>
        </p:txBody>
      </p:sp>
      <p:sp>
        <p:nvSpPr>
          <p:cNvPr id="18" name="">
            <a:extLst xmlns:a="http://schemas.openxmlformats.org/drawingml/2006/main">
              <a:ext uri="{FF2B5EF4-FFF2-40B4-BE49-F238E27FC236}">
                <a16:creationId xmlns:a16="http://schemas.microsoft.com/office/drawing/2014/main" id="{B910B168-FDEC-4750-9059-9C6D18CBA68D}"/>
              </a:ext>
            </a:extLst>
          </p:cNvPr>
          <p:cNvSpPr>
            <a:spLocks xmlns:a="http://schemas.openxmlformats.org/drawingml/2006/main" noGrp="1"/>
          </p:cNvSpPr>
          <p:nvPr/>
        </p:nvSpPr>
        <p:spPr>
          <a:xfrm xmlns:a="http://schemas.openxmlformats.org/drawingml/2006/main">
            <a:off x="6381750" y="3381375"/>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5231E"/>
                </a:solidFill>
                <a:latin typeface="Helvetica Neue"/>
                <a:ea typeface="Helvetica Neue"/>
                <a:cs typeface="Helvetica Neue"/>
              </a:defRPr>
            </a:pPr>
            <a:r>
              <a:rPr sz="1500" b="0">
                <a:solidFill>
                  <a:srgbClr val="15231E"/>
                </a:solidFill>
                <a:latin typeface="Helvetica Neue"/>
                <a:ea typeface="Helvetica Neue"/>
                <a:cs typeface="Helvetica Neue"/>
              </a:rPr>
              <a:t>Eligibility and sequencing rules</a:t>
            </a:r>
          </a:p>
        </p:txBody>
      </p:sp>
      <p:sp>
        <p:nvSpPr>
          <p:cNvPr id="19" name="">
            <a:extLst xmlns:a="http://schemas.openxmlformats.org/drawingml/2006/main">
              <a:ext uri="{FF2B5EF4-FFF2-40B4-BE49-F238E27FC236}">
                <a16:creationId xmlns:a16="http://schemas.microsoft.com/office/drawing/2014/main" id="{4B085DA5-359D-4756-BEA5-298166B63E58}"/>
              </a:ext>
            </a:extLst>
          </p:cNvPr>
          <p:cNvSpPr>
            <a:spLocks xmlns:a="http://schemas.openxmlformats.org/drawingml/2006/main" noGrp="1"/>
          </p:cNvSpPr>
          <p:nvPr/>
        </p:nvSpPr>
        <p:spPr>
          <a:xfrm xmlns:a="http://schemas.openxmlformats.org/drawingml/2006/main">
            <a:off x="8610600" y="2905125"/>
            <a:ext cx="304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A7D46F"/>
                </a:solidFill>
                <a:latin typeface="Helvetica Neue"/>
                <a:ea typeface="Helvetica Neue"/>
                <a:cs typeface="Helvetica Neue"/>
              </a:defRPr>
            </a:pPr>
            <a:r>
              <a:rPr sz="3450" b="1">
                <a:solidFill>
                  <a:srgbClr val="A7D46F"/>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82344421-9A3C-4760-8FF1-CD75C0B6FD8C}"/>
              </a:ext>
            </a:extLst>
          </p:cNvPr>
          <p:cNvSpPr>
            <a:spLocks xmlns:a="http://schemas.openxmlformats.org/drawingml/2006/main" noGrp="1"/>
          </p:cNvSpPr>
          <p:nvPr/>
        </p:nvSpPr>
        <p:spPr>
          <a:xfrm xmlns:a="http://schemas.openxmlformats.org/drawingml/2006/main">
            <a:off x="9029700" y="2238375"/>
            <a:ext cx="2333625" cy="2095500"/>
          </a:xfrm>
          <a:prstGeom xmlns:a="http://schemas.openxmlformats.org/drawingml/2006/main" prst="roundRect">
            <a:avLst>
              <a:gd name="adj" fmla="val 8182"/>
            </a:avLst>
          </a:prstGeom>
          <a:solidFill xmlns:a="http://schemas.openxmlformats.org/drawingml/2006/main">
            <a:srgbClr val="FFFFFF"/>
          </a:solidFill>
          <a:ln xmlns:a="http://schemas.openxmlformats.org/drawingml/2006/main" w="0">
            <a:solidFill>
              <a:srgbClr val="FFFFFF"/>
            </a:solidFill>
          </a:ln>
        </p:spPr>
      </p:sp>
      <p:sp>
        <p:nvSpPr>
          <p:cNvPr id="21" name="">
            <a:extLst xmlns:a="http://schemas.openxmlformats.org/drawingml/2006/main">
              <a:ext uri="{FF2B5EF4-FFF2-40B4-BE49-F238E27FC236}">
                <a16:creationId xmlns:a16="http://schemas.microsoft.com/office/drawing/2014/main" id="{BB457D08-85B4-4355-B903-825A13292FFD}"/>
              </a:ext>
            </a:extLst>
          </p:cNvPr>
          <p:cNvSpPr>
            <a:spLocks xmlns:a="http://schemas.openxmlformats.org/drawingml/2006/main" noGrp="1"/>
          </p:cNvSpPr>
          <p:nvPr/>
        </p:nvSpPr>
        <p:spPr>
          <a:xfrm xmlns:a="http://schemas.openxmlformats.org/drawingml/2006/main">
            <a:off x="9239250" y="24193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D3B2E"/>
                </a:solidFill>
                <a:latin typeface="Helvetica Neue"/>
                <a:ea typeface="Helvetica Neue"/>
                <a:cs typeface="Helvetica Neue"/>
              </a:defRPr>
            </a:pPr>
            <a:r>
              <a:rPr sz="1275" b="1">
                <a:solidFill>
                  <a:srgbClr val="0D3B2E"/>
                </a:solidFill>
                <a:latin typeface="Helvetica Neue"/>
                <a:ea typeface="Helvetica Neue"/>
                <a:cs typeface="Helvetica Neue"/>
              </a:rPr>
              <a:t>04</a:t>
            </a:r>
          </a:p>
        </p:txBody>
      </p:sp>
      <p:sp>
        <p:nvSpPr>
          <p:cNvPr id="22" name="">
            <a:extLst xmlns:a="http://schemas.openxmlformats.org/drawingml/2006/main">
              <a:ext uri="{FF2B5EF4-FFF2-40B4-BE49-F238E27FC236}">
                <a16:creationId xmlns:a16="http://schemas.microsoft.com/office/drawing/2014/main" id="{770BE1DE-D7D0-45C0-A1B9-AF7179E76824}"/>
              </a:ext>
            </a:extLst>
          </p:cNvPr>
          <p:cNvSpPr>
            <a:spLocks xmlns:a="http://schemas.openxmlformats.org/drawingml/2006/main" noGrp="1"/>
          </p:cNvSpPr>
          <p:nvPr/>
        </p:nvSpPr>
        <p:spPr>
          <a:xfrm xmlns:a="http://schemas.openxmlformats.org/drawingml/2006/main">
            <a:off x="9239250" y="2895600"/>
            <a:ext cx="190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1">
                <a:solidFill>
                  <a:srgbClr val="0D3B2E"/>
                </a:solidFill>
                <a:latin typeface="Helvetica Neue"/>
                <a:ea typeface="Helvetica Neue"/>
                <a:cs typeface="Helvetica Neue"/>
              </a:defRPr>
            </a:pPr>
            <a:r>
              <a:rPr sz="1725" b="1">
                <a:solidFill>
                  <a:srgbClr val="0D3B2E"/>
                </a:solidFill>
                <a:latin typeface="Helvetica Neue"/>
                <a:ea typeface="Helvetica Neue"/>
                <a:cs typeface="Helvetica Neue"/>
              </a:rPr>
              <a:t>HAND OFF</a:t>
            </a:r>
          </a:p>
        </p:txBody>
      </p:sp>
      <p:sp>
        <p:nvSpPr>
          <p:cNvPr id="23" name="">
            <a:extLst xmlns:a="http://schemas.openxmlformats.org/drawingml/2006/main">
              <a:ext uri="{FF2B5EF4-FFF2-40B4-BE49-F238E27FC236}">
                <a16:creationId xmlns:a16="http://schemas.microsoft.com/office/drawing/2014/main" id="{D82EDFAF-18EE-458E-ADAA-35CE6A96F275}"/>
              </a:ext>
            </a:extLst>
          </p:cNvPr>
          <p:cNvSpPr>
            <a:spLocks xmlns:a="http://schemas.openxmlformats.org/drawingml/2006/main" noGrp="1"/>
          </p:cNvSpPr>
          <p:nvPr/>
        </p:nvSpPr>
        <p:spPr>
          <a:xfrm xmlns:a="http://schemas.openxmlformats.org/drawingml/2006/main">
            <a:off x="9239250" y="3381375"/>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5231E"/>
                </a:solidFill>
                <a:latin typeface="Helvetica Neue"/>
                <a:ea typeface="Helvetica Neue"/>
                <a:cs typeface="Helvetica Neue"/>
              </a:defRPr>
            </a:pPr>
            <a:r>
              <a:rPr sz="1500" b="0">
                <a:solidFill>
                  <a:srgbClr val="15231E"/>
                </a:solidFill>
                <a:latin typeface="Helvetica Neue"/>
                <a:ea typeface="Helvetica Neue"/>
                <a:cs typeface="Helvetica Neue"/>
              </a:rPr>
              <a:t>Sources, assumptions and open questions</a:t>
            </a:r>
          </a:p>
        </p:txBody>
      </p:sp>
      <p:sp>
        <p:nvSpPr>
          <p:cNvPr id="24" name="">
            <a:extLst xmlns:a="http://schemas.openxmlformats.org/drawingml/2006/main">
              <a:ext uri="{FF2B5EF4-FFF2-40B4-BE49-F238E27FC236}">
                <a16:creationId xmlns:a16="http://schemas.microsoft.com/office/drawing/2014/main" id="{A05F22B2-8E2E-4EB3-91EA-F3EE02C75129}"/>
              </a:ext>
            </a:extLst>
          </p:cNvPr>
          <p:cNvSpPr>
            <a:spLocks xmlns:a="http://schemas.openxmlformats.org/drawingml/2006/main" noGrp="1"/>
          </p:cNvSpPr>
          <p:nvPr/>
        </p:nvSpPr>
        <p:spPr>
          <a:xfrm xmlns:a="http://schemas.openxmlformats.org/drawingml/2006/main">
            <a:off x="457200" y="4857750"/>
            <a:ext cx="10925175" cy="714375"/>
          </a:xfrm>
          <a:prstGeom xmlns:a="http://schemas.openxmlformats.org/drawingml/2006/main" prst="roundRect">
            <a:avLst>
              <a:gd name="adj" fmla="val 24000"/>
            </a:avLst>
          </a:prstGeom>
          <a:solidFill xmlns:a="http://schemas.openxmlformats.org/drawingml/2006/main">
            <a:srgbClr val="174C3B"/>
          </a:solidFill>
          <a:ln xmlns:a="http://schemas.openxmlformats.org/drawingml/2006/main" w="0">
            <a:solidFill>
              <a:srgbClr val="174C3B"/>
            </a:solidFill>
          </a:ln>
        </p:spPr>
      </p:sp>
      <p:sp>
        <p:nvSpPr>
          <p:cNvPr id="25" name="">
            <a:extLst xmlns:a="http://schemas.openxmlformats.org/drawingml/2006/main">
              <a:ext uri="{FF2B5EF4-FFF2-40B4-BE49-F238E27FC236}">
                <a16:creationId xmlns:a16="http://schemas.microsoft.com/office/drawing/2014/main" id="{159A00A1-1486-4BE7-8362-B2E86F32852F}"/>
              </a:ext>
            </a:extLst>
          </p:cNvPr>
          <p:cNvSpPr>
            <a:spLocks xmlns:a="http://schemas.openxmlformats.org/drawingml/2006/main" noGrp="1"/>
          </p:cNvSpPr>
          <p:nvPr/>
        </p:nvSpPr>
        <p:spPr>
          <a:xfrm xmlns:a="http://schemas.openxmlformats.org/drawingml/2006/main">
            <a:off x="704850" y="5010150"/>
            <a:ext cx="10429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Facts, assumptions and missing evidence remain visible throughout the pathway.</a:t>
            </a:r>
          </a:p>
        </p:txBody>
      </p:sp>
    </p:spTree>
    <p:extLst>
      <p:ext uri="{BB962C8B-B14F-4D97-AF65-F5344CB8AC3E}">
        <p14:creationId xmlns:p14="http://schemas.microsoft.com/office/powerpoint/2010/main" val="1393456992"/>
      </p:ext>
    </p:extLst>
  </p:cSld>
</p:sld>
</file>

<file path=ppt/slides/slide8.xml><?xml version="1.0" encoding="utf-8"?>
<p:sld xmlns:p="http://schemas.openxmlformats.org/presentationml/2006/main">
  <p:cSld>
    <p:bg>
      <p:bgPr>
        <a:solidFill xmlns:a="http://schemas.openxmlformats.org/drawingml/2006/main">
          <a:srgbClr val="E8F1E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128A5763-B2AB-4A7F-9293-B146E067594C}"/>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TRUST AND RESPONSIBLE AI</a:t>
            </a:r>
          </a:p>
        </p:txBody>
      </p:sp>
      <p:sp>
        <p:nvSpPr>
          <p:cNvPr id="2" name="">
            <a:extLst xmlns:a="http://schemas.openxmlformats.org/drawingml/2006/main">
              <a:ext uri="{FF2B5EF4-FFF2-40B4-BE49-F238E27FC236}">
                <a16:creationId xmlns:a16="http://schemas.microsoft.com/office/drawing/2014/main" id="{65D7522E-6162-4D3A-AC89-E6BF9727CDC3}"/>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Governance follows the homeowner profile</a:t>
            </a:r>
          </a:p>
        </p:txBody>
      </p:sp>
      <p:sp>
        <p:nvSpPr>
          <p:cNvPr id="3" name="">
            <a:extLst xmlns:a="http://schemas.openxmlformats.org/drawingml/2006/main">
              <a:ext uri="{FF2B5EF4-FFF2-40B4-BE49-F238E27FC236}">
                <a16:creationId xmlns:a16="http://schemas.microsoft.com/office/drawing/2014/main" id="{621A2EC4-EB0A-4DFC-8F65-300861E7B1FE}"/>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25073E07-7DC4-4D2B-886B-163D4260184B}"/>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8AA37ECE-3507-4E29-A9FB-25EB5F5EA770}"/>
              </a:ext>
            </a:extLst>
          </p:cNvPr>
          <p:cNvSpPr>
            <a:spLocks xmlns:a="http://schemas.openxmlformats.org/drawingml/2006/main" noGrp="1"/>
          </p:cNvSpPr>
          <p:nvPr/>
        </p:nvSpPr>
        <p:spPr>
          <a:xfrm xmlns:a="http://schemas.openxmlformats.org/drawingml/2006/main">
            <a:off x="457200" y="1666875"/>
            <a:ext cx="4667250" cy="3905250"/>
          </a:xfrm>
          <a:prstGeom xmlns:a="http://schemas.openxmlformats.org/drawingml/2006/main" prst="roundRect">
            <a:avLst>
              <a:gd name="adj" fmla="val 4390"/>
            </a:avLst>
          </a:prstGeom>
          <a:solidFill xmlns:a="http://schemas.openxmlformats.org/drawingml/2006/main">
            <a:srgbClr val="0D3B2E"/>
          </a:solidFill>
          <a:ln xmlns:a="http://schemas.openxmlformats.org/drawingml/2006/main" w="0">
            <a:solidFill>
              <a:srgbClr val="0D3B2E"/>
            </a:solidFill>
          </a:ln>
        </p:spPr>
      </p:sp>
      <p:sp>
        <p:nvSpPr>
          <p:cNvPr id="6" name="">
            <a:extLst xmlns:a="http://schemas.openxmlformats.org/drawingml/2006/main">
              <a:ext uri="{FF2B5EF4-FFF2-40B4-BE49-F238E27FC236}">
                <a16:creationId xmlns:a16="http://schemas.microsoft.com/office/drawing/2014/main" id="{E114ABA3-476E-4C3E-97FA-E7B443DA29A8}"/>
              </a:ext>
            </a:extLst>
          </p:cNvPr>
          <p:cNvSpPr>
            <a:spLocks xmlns:a="http://schemas.openxmlformats.org/drawingml/2006/main" noGrp="1"/>
          </p:cNvSpPr>
          <p:nvPr/>
        </p:nvSpPr>
        <p:spPr>
          <a:xfrm xmlns:a="http://schemas.openxmlformats.org/drawingml/2006/main">
            <a:off x="781050" y="1971675"/>
            <a:ext cx="390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A7D46F"/>
                </a:solidFill>
                <a:latin typeface="Helvetica Neue"/>
                <a:ea typeface="Helvetica Neue"/>
                <a:cs typeface="Helvetica Neue"/>
              </a:defRPr>
            </a:pPr>
            <a:r>
              <a:rPr sz="1425" b="1">
                <a:solidFill>
                  <a:srgbClr val="A7D46F"/>
                </a:solidFill>
                <a:latin typeface="Helvetica Neue"/>
                <a:ea typeface="Helvetica Neue"/>
                <a:cs typeface="Helvetica Neue"/>
              </a:rPr>
              <a:t>BER boundary</a:t>
            </a:r>
          </a:p>
        </p:txBody>
      </p:sp>
      <p:sp>
        <p:nvSpPr>
          <p:cNvPr id="7" name="">
            <a:extLst xmlns:a="http://schemas.openxmlformats.org/drawingml/2006/main">
              <a:ext uri="{FF2B5EF4-FFF2-40B4-BE49-F238E27FC236}">
                <a16:creationId xmlns:a16="http://schemas.microsoft.com/office/drawing/2014/main" id="{2E6BB93A-ACC0-4778-92ED-807F557834BD}"/>
              </a:ext>
            </a:extLst>
          </p:cNvPr>
          <p:cNvSpPr>
            <a:spLocks xmlns:a="http://schemas.openxmlformats.org/drawingml/2006/main" noGrp="1"/>
          </p:cNvSpPr>
          <p:nvPr/>
        </p:nvSpPr>
        <p:spPr>
          <a:xfrm xmlns:a="http://schemas.openxmlformats.org/drawingml/2006/main">
            <a:off x="781050" y="2514600"/>
            <a:ext cx="3857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Potential uplift appears only when adequate baseline evidence is available.</a:t>
            </a:r>
          </a:p>
        </p:txBody>
      </p:sp>
      <p:sp>
        <p:nvSpPr>
          <p:cNvPr id="8" name="">
            <a:extLst xmlns:a="http://schemas.openxmlformats.org/drawingml/2006/main">
              <a:ext uri="{FF2B5EF4-FFF2-40B4-BE49-F238E27FC236}">
                <a16:creationId xmlns:a16="http://schemas.microsoft.com/office/drawing/2014/main" id="{91CA033C-C8B2-4F00-B701-585750796322}"/>
              </a:ext>
            </a:extLst>
          </p:cNvPr>
          <p:cNvSpPr>
            <a:spLocks xmlns:a="http://schemas.openxmlformats.org/drawingml/2006/main" noGrp="1"/>
          </p:cNvSpPr>
          <p:nvPr/>
        </p:nvSpPr>
        <p:spPr>
          <a:xfrm xmlns:a="http://schemas.openxmlformats.org/drawingml/2006/main">
            <a:off x="781050" y="3676650"/>
            <a:ext cx="3857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DCE9E1"/>
                </a:solidFill>
                <a:latin typeface="Helvetica Neue"/>
                <a:ea typeface="Helvetica Neue"/>
                <a:cs typeface="Helvetica Neue"/>
              </a:defRPr>
            </a:pPr>
            <a:r>
              <a:rPr sz="1575" b="0">
                <a:solidFill>
                  <a:srgbClr val="DCE9E1"/>
                </a:solidFill>
                <a:latin typeface="Helvetica Neue"/>
                <a:ea typeface="Helvetica Neue"/>
                <a:cs typeface="Helvetica Neue"/>
              </a:rPr>
              <a:t>Older certificates retain their original scale. Estimated uplift remains subject to competent assessment.</a:t>
            </a:r>
          </a:p>
        </p:txBody>
      </p:sp>
      <p:sp>
        <p:nvSpPr>
          <p:cNvPr id="9" name="">
            <a:extLst xmlns:a="http://schemas.openxmlformats.org/drawingml/2006/main">
              <a:ext uri="{FF2B5EF4-FFF2-40B4-BE49-F238E27FC236}">
                <a16:creationId xmlns:a16="http://schemas.microsoft.com/office/drawing/2014/main" id="{6773DA2E-03BE-451E-8E57-A080BF1A3F2E}"/>
              </a:ext>
            </a:extLst>
          </p:cNvPr>
          <p:cNvSpPr>
            <a:spLocks xmlns:a="http://schemas.openxmlformats.org/drawingml/2006/main" noGrp="1"/>
          </p:cNvSpPr>
          <p:nvPr/>
        </p:nvSpPr>
        <p:spPr>
          <a:xfrm xmlns:a="http://schemas.openxmlformats.org/drawingml/2006/main">
            <a:off x="781050" y="4953000"/>
            <a:ext cx="1809750" cy="323850"/>
          </a:xfrm>
          <a:prstGeom xmlns:a="http://schemas.openxmlformats.org/drawingml/2006/main" prst="roundRect">
            <a:avLst>
              <a:gd name="adj" fmla="val 50000"/>
            </a:avLst>
          </a:prstGeom>
          <a:solidFill xmlns:a="http://schemas.openxmlformats.org/drawingml/2006/main">
            <a:srgbClr val="E78363"/>
          </a:solidFill>
          <a:ln xmlns:a="http://schemas.openxmlformats.org/drawingml/2006/main" w="0">
            <a:solidFill>
              <a:srgbClr val="E78363"/>
            </a:solidFill>
          </a:ln>
        </p:spPr>
        <p:txBody>
          <a:bodyPr xmlns:a="http://schemas.openxmlformats.org/drawingml/2006/main" anchor="ctr"/>
          <a:lstStyle xmlns:a="http://schemas.openxmlformats.org/drawingml/2006/main"/>
          <a:p xmlns:a="http://schemas.openxmlformats.org/drawingml/2006/main">
            <a:pP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NO LIVE MPRN LOOKUP</a:t>
            </a:r>
          </a:p>
        </p:txBody>
      </p:sp>
      <p:sp>
        <p:nvSpPr>
          <p:cNvPr id="10" name="">
            <a:extLst xmlns:a="http://schemas.openxmlformats.org/drawingml/2006/main">
              <a:ext uri="{FF2B5EF4-FFF2-40B4-BE49-F238E27FC236}">
                <a16:creationId xmlns:a16="http://schemas.microsoft.com/office/drawing/2014/main" id="{82DD5C5F-A22D-4C6E-94CE-20D3660042F3}"/>
              </a:ext>
            </a:extLst>
          </p:cNvPr>
          <p:cNvSpPr>
            <a:spLocks xmlns:a="http://schemas.openxmlformats.org/drawingml/2006/main" noGrp="1"/>
          </p:cNvSpPr>
          <p:nvPr/>
        </p:nvSpPr>
        <p:spPr>
          <a:xfrm xmlns:a="http://schemas.openxmlformats.org/drawingml/2006/main">
            <a:off x="5810250" y="1809750"/>
            <a:ext cx="3238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350" b="1">
                <a:solidFill>
                  <a:srgbClr val="0D3B2E"/>
                </a:solidFill>
                <a:latin typeface="Helvetica Neue"/>
                <a:ea typeface="Helvetica Neue"/>
                <a:cs typeface="Helvetica Neue"/>
              </a:defRPr>
            </a:pPr>
            <a:r>
              <a:rPr sz="1350" b="1">
                <a:solidFill>
                  <a:srgbClr val="0D3B2E"/>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65D37894-5D1E-4107-BB00-E47CE2D0DC31}"/>
              </a:ext>
            </a:extLst>
          </p:cNvPr>
          <p:cNvSpPr>
            <a:spLocks xmlns:a="http://schemas.openxmlformats.org/drawingml/2006/main" noGrp="1"/>
          </p:cNvSpPr>
          <p:nvPr/>
        </p:nvSpPr>
        <p:spPr>
          <a:xfrm xmlns:a="http://schemas.openxmlformats.org/drawingml/2006/main">
            <a:off x="6343650" y="17907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15231E"/>
                </a:solidFill>
                <a:latin typeface="Helvetica Neue"/>
                <a:ea typeface="Helvetica Neue"/>
                <a:cs typeface="Helvetica Neue"/>
              </a:defRPr>
            </a:pPr>
            <a:r>
              <a:rPr sz="1800" b="1">
                <a:solidFill>
                  <a:srgbClr val="15231E"/>
                </a:solidFill>
                <a:latin typeface="Helvetica Neue"/>
                <a:ea typeface="Helvetica Neue"/>
                <a:cs typeface="Helvetica Neue"/>
              </a:rPr>
              <a:t>Owner-based access</a:t>
            </a:r>
          </a:p>
        </p:txBody>
      </p:sp>
      <p:sp>
        <p:nvSpPr>
          <p:cNvPr id="12" name="">
            <a:extLst xmlns:a="http://schemas.openxmlformats.org/drawingml/2006/main">
              <a:ext uri="{FF2B5EF4-FFF2-40B4-BE49-F238E27FC236}">
                <a16:creationId xmlns:a16="http://schemas.microsoft.com/office/drawing/2014/main" id="{3A0E7E89-7146-45B3-BECD-C9DAB450CB8D}"/>
              </a:ext>
            </a:extLst>
          </p:cNvPr>
          <p:cNvSpPr>
            <a:spLocks xmlns:a="http://schemas.openxmlformats.org/drawingml/2006/main" noGrp="1"/>
          </p:cNvSpPr>
          <p:nvPr/>
        </p:nvSpPr>
        <p:spPr>
          <a:xfrm xmlns:a="http://schemas.openxmlformats.org/drawingml/2006/main">
            <a:off x="6343650" y="2324100"/>
            <a:ext cx="476250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13" name="">
            <a:extLst xmlns:a="http://schemas.openxmlformats.org/drawingml/2006/main">
              <a:ext uri="{FF2B5EF4-FFF2-40B4-BE49-F238E27FC236}">
                <a16:creationId xmlns:a16="http://schemas.microsoft.com/office/drawing/2014/main" id="{41A71DD1-DA56-400D-8AAF-6DC477E5A390}"/>
              </a:ext>
            </a:extLst>
          </p:cNvPr>
          <p:cNvSpPr>
            <a:spLocks xmlns:a="http://schemas.openxmlformats.org/drawingml/2006/main" noGrp="1"/>
          </p:cNvSpPr>
          <p:nvPr/>
        </p:nvSpPr>
        <p:spPr>
          <a:xfrm xmlns:a="http://schemas.openxmlformats.org/drawingml/2006/main">
            <a:off x="5810250" y="2524125"/>
            <a:ext cx="3238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350" b="1">
                <a:solidFill>
                  <a:srgbClr val="0D3B2E"/>
                </a:solidFill>
                <a:latin typeface="Helvetica Neue"/>
                <a:ea typeface="Helvetica Neue"/>
                <a:cs typeface="Helvetica Neue"/>
              </a:defRPr>
            </a:pPr>
            <a:r>
              <a:rPr sz="1350" b="1">
                <a:solidFill>
                  <a:srgbClr val="0D3B2E"/>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7E2F77E7-E876-470F-9302-51945DE54A09}"/>
              </a:ext>
            </a:extLst>
          </p:cNvPr>
          <p:cNvSpPr>
            <a:spLocks xmlns:a="http://schemas.openxmlformats.org/drawingml/2006/main" noGrp="1"/>
          </p:cNvSpPr>
          <p:nvPr/>
        </p:nvSpPr>
        <p:spPr>
          <a:xfrm xmlns:a="http://schemas.openxmlformats.org/drawingml/2006/main">
            <a:off x="6343650" y="25050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5231E"/>
                </a:solidFill>
                <a:latin typeface="Helvetica Neue"/>
                <a:ea typeface="Helvetica Neue"/>
                <a:cs typeface="Helvetica Neue"/>
              </a:defRPr>
            </a:pPr>
            <a:r>
              <a:rPr sz="1800" b="0">
                <a:solidFill>
                  <a:srgbClr val="15231E"/>
                </a:solidFill>
                <a:latin typeface="Helvetica Neue"/>
                <a:ea typeface="Helvetica Neue"/>
                <a:cs typeface="Helvetica Neue"/>
              </a:rPr>
              <a:t>Configurable retention period</a:t>
            </a:r>
          </a:p>
        </p:txBody>
      </p:sp>
      <p:sp>
        <p:nvSpPr>
          <p:cNvPr id="15" name="">
            <a:extLst xmlns:a="http://schemas.openxmlformats.org/drawingml/2006/main">
              <a:ext uri="{FF2B5EF4-FFF2-40B4-BE49-F238E27FC236}">
                <a16:creationId xmlns:a16="http://schemas.microsoft.com/office/drawing/2014/main" id="{F162BE48-F0DA-489E-9CF8-347A9A982F2D}"/>
              </a:ext>
            </a:extLst>
          </p:cNvPr>
          <p:cNvSpPr>
            <a:spLocks xmlns:a="http://schemas.openxmlformats.org/drawingml/2006/main" noGrp="1"/>
          </p:cNvSpPr>
          <p:nvPr/>
        </p:nvSpPr>
        <p:spPr>
          <a:xfrm xmlns:a="http://schemas.openxmlformats.org/drawingml/2006/main">
            <a:off x="6343650" y="3038475"/>
            <a:ext cx="476250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16" name="">
            <a:extLst xmlns:a="http://schemas.openxmlformats.org/drawingml/2006/main">
              <a:ext uri="{FF2B5EF4-FFF2-40B4-BE49-F238E27FC236}">
                <a16:creationId xmlns:a16="http://schemas.microsoft.com/office/drawing/2014/main" id="{AF10FD84-4143-4A69-8FFC-F5F910A01CF7}"/>
              </a:ext>
            </a:extLst>
          </p:cNvPr>
          <p:cNvSpPr>
            <a:spLocks xmlns:a="http://schemas.openxmlformats.org/drawingml/2006/main" noGrp="1"/>
          </p:cNvSpPr>
          <p:nvPr/>
        </p:nvSpPr>
        <p:spPr>
          <a:xfrm xmlns:a="http://schemas.openxmlformats.org/drawingml/2006/main">
            <a:off x="5810250" y="3238500"/>
            <a:ext cx="3238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350" b="1">
                <a:solidFill>
                  <a:srgbClr val="0D3B2E"/>
                </a:solidFill>
                <a:latin typeface="Helvetica Neue"/>
                <a:ea typeface="Helvetica Neue"/>
                <a:cs typeface="Helvetica Neue"/>
              </a:defRPr>
            </a:pPr>
            <a:r>
              <a:rPr sz="1350" b="1">
                <a:solidFill>
                  <a:srgbClr val="0D3B2E"/>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9F84BE95-70F3-4E0F-914E-E6718A97303B}"/>
              </a:ext>
            </a:extLst>
          </p:cNvPr>
          <p:cNvSpPr>
            <a:spLocks xmlns:a="http://schemas.openxmlformats.org/drawingml/2006/main" noGrp="1"/>
          </p:cNvSpPr>
          <p:nvPr/>
        </p:nvSpPr>
        <p:spPr>
          <a:xfrm xmlns:a="http://schemas.openxmlformats.org/drawingml/2006/main">
            <a:off x="6343650" y="32194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5231E"/>
                </a:solidFill>
                <a:latin typeface="Helvetica Neue"/>
                <a:ea typeface="Helvetica Neue"/>
                <a:cs typeface="Helvetica Neue"/>
              </a:defRPr>
            </a:pPr>
            <a:r>
              <a:rPr sz="1800" b="0">
                <a:solidFill>
                  <a:srgbClr val="15231E"/>
                </a:solidFill>
                <a:latin typeface="Helvetica Neue"/>
                <a:ea typeface="Helvetica Neue"/>
                <a:cs typeface="Helvetica Neue"/>
              </a:rPr>
              <a:t>Deletion request and audit trail</a:t>
            </a:r>
          </a:p>
        </p:txBody>
      </p:sp>
      <p:sp>
        <p:nvSpPr>
          <p:cNvPr id="18" name="">
            <a:extLst xmlns:a="http://schemas.openxmlformats.org/drawingml/2006/main">
              <a:ext uri="{FF2B5EF4-FFF2-40B4-BE49-F238E27FC236}">
                <a16:creationId xmlns:a16="http://schemas.microsoft.com/office/drawing/2014/main" id="{E38C5AEB-D546-4B35-A452-FF14B3809AF4}"/>
              </a:ext>
            </a:extLst>
          </p:cNvPr>
          <p:cNvSpPr>
            <a:spLocks xmlns:a="http://schemas.openxmlformats.org/drawingml/2006/main" noGrp="1"/>
          </p:cNvSpPr>
          <p:nvPr/>
        </p:nvSpPr>
        <p:spPr>
          <a:xfrm xmlns:a="http://schemas.openxmlformats.org/drawingml/2006/main">
            <a:off x="6343650" y="3752850"/>
            <a:ext cx="476250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19" name="">
            <a:extLst xmlns:a="http://schemas.openxmlformats.org/drawingml/2006/main">
              <a:ext uri="{FF2B5EF4-FFF2-40B4-BE49-F238E27FC236}">
                <a16:creationId xmlns:a16="http://schemas.microsoft.com/office/drawing/2014/main" id="{DB922F1A-39BD-4900-BA61-F0847008E7F1}"/>
              </a:ext>
            </a:extLst>
          </p:cNvPr>
          <p:cNvSpPr>
            <a:spLocks xmlns:a="http://schemas.openxmlformats.org/drawingml/2006/main" noGrp="1"/>
          </p:cNvSpPr>
          <p:nvPr/>
        </p:nvSpPr>
        <p:spPr>
          <a:xfrm xmlns:a="http://schemas.openxmlformats.org/drawingml/2006/main">
            <a:off x="5810250" y="3952875"/>
            <a:ext cx="3238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350" b="1">
                <a:solidFill>
                  <a:srgbClr val="0D3B2E"/>
                </a:solidFill>
                <a:latin typeface="Helvetica Neue"/>
                <a:ea typeface="Helvetica Neue"/>
                <a:cs typeface="Helvetica Neue"/>
              </a:defRPr>
            </a:pPr>
            <a:r>
              <a:rPr sz="1350" b="1">
                <a:solidFill>
                  <a:srgbClr val="0D3B2E"/>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E18CD506-23F6-424B-99EC-F6909D3720DC}"/>
              </a:ext>
            </a:extLst>
          </p:cNvPr>
          <p:cNvSpPr>
            <a:spLocks xmlns:a="http://schemas.openxmlformats.org/drawingml/2006/main" noGrp="1"/>
          </p:cNvSpPr>
          <p:nvPr/>
        </p:nvSpPr>
        <p:spPr>
          <a:xfrm xmlns:a="http://schemas.openxmlformats.org/drawingml/2006/main">
            <a:off x="6343650" y="39338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5231E"/>
                </a:solidFill>
                <a:latin typeface="Helvetica Neue"/>
                <a:ea typeface="Helvetica Neue"/>
                <a:cs typeface="Helvetica Neue"/>
              </a:defRPr>
            </a:pPr>
            <a:r>
              <a:rPr sz="1800" b="0">
                <a:solidFill>
                  <a:srgbClr val="15231E"/>
                </a:solidFill>
                <a:latin typeface="Helvetica Neue"/>
                <a:ea typeface="Helvetica Neue"/>
                <a:cs typeface="Helvetica Neue"/>
              </a:rPr>
              <a:t>Dated sources and assumptions</a:t>
            </a:r>
          </a:p>
        </p:txBody>
      </p:sp>
      <p:sp>
        <p:nvSpPr>
          <p:cNvPr id="21" name="">
            <a:extLst xmlns:a="http://schemas.openxmlformats.org/drawingml/2006/main">
              <a:ext uri="{FF2B5EF4-FFF2-40B4-BE49-F238E27FC236}">
                <a16:creationId xmlns:a16="http://schemas.microsoft.com/office/drawing/2014/main" id="{7C9CC7DB-B388-46EF-9474-7B77FCC6985D}"/>
              </a:ext>
            </a:extLst>
          </p:cNvPr>
          <p:cNvSpPr>
            <a:spLocks xmlns:a="http://schemas.openxmlformats.org/drawingml/2006/main" noGrp="1"/>
          </p:cNvSpPr>
          <p:nvPr/>
        </p:nvSpPr>
        <p:spPr>
          <a:xfrm xmlns:a="http://schemas.openxmlformats.org/drawingml/2006/main">
            <a:off x="6343650" y="4467225"/>
            <a:ext cx="476250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22" name="">
            <a:extLst xmlns:a="http://schemas.openxmlformats.org/drawingml/2006/main">
              <a:ext uri="{FF2B5EF4-FFF2-40B4-BE49-F238E27FC236}">
                <a16:creationId xmlns:a16="http://schemas.microsoft.com/office/drawing/2014/main" id="{903836D7-0F71-4ED4-A0B6-6607F693E24B}"/>
              </a:ext>
            </a:extLst>
          </p:cNvPr>
          <p:cNvSpPr>
            <a:spLocks xmlns:a="http://schemas.openxmlformats.org/drawingml/2006/main" noGrp="1"/>
          </p:cNvSpPr>
          <p:nvPr/>
        </p:nvSpPr>
        <p:spPr>
          <a:xfrm xmlns:a="http://schemas.openxmlformats.org/drawingml/2006/main">
            <a:off x="5810250" y="4667250"/>
            <a:ext cx="3238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350" b="1">
                <a:solidFill>
                  <a:srgbClr val="0D3B2E"/>
                </a:solidFill>
                <a:latin typeface="Helvetica Neue"/>
                <a:ea typeface="Helvetica Neue"/>
                <a:cs typeface="Helvetica Neue"/>
              </a:defRPr>
            </a:pPr>
            <a:r>
              <a:rPr sz="1350" b="1">
                <a:solidFill>
                  <a:srgbClr val="0D3B2E"/>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D6263EC4-4090-4B0C-9715-2FD0BD313337}"/>
              </a:ext>
            </a:extLst>
          </p:cNvPr>
          <p:cNvSpPr>
            <a:spLocks xmlns:a="http://schemas.openxmlformats.org/drawingml/2006/main" noGrp="1"/>
          </p:cNvSpPr>
          <p:nvPr/>
        </p:nvSpPr>
        <p:spPr>
          <a:xfrm xmlns:a="http://schemas.openxmlformats.org/drawingml/2006/main">
            <a:off x="6343650" y="4648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5231E"/>
                </a:solidFill>
                <a:latin typeface="Helvetica Neue"/>
                <a:ea typeface="Helvetica Neue"/>
                <a:cs typeface="Helvetica Neue"/>
              </a:defRPr>
            </a:pPr>
            <a:r>
              <a:rPr sz="1800" b="0">
                <a:solidFill>
                  <a:srgbClr val="15231E"/>
                </a:solidFill>
                <a:latin typeface="Helvetica Neue"/>
                <a:ea typeface="Helvetica Neue"/>
                <a:cs typeface="Helvetica Neue"/>
              </a:rPr>
              <a:t>Qualified technical hand-off</a:t>
            </a:r>
          </a:p>
        </p:txBody>
      </p:sp>
    </p:spTree>
    <p:extLst>
      <p:ext uri="{BB962C8B-B14F-4D97-AF65-F5344CB8AC3E}">
        <p14:creationId xmlns:p14="http://schemas.microsoft.com/office/powerpoint/2010/main" val="33318791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3708AF-14F5-49E6-B4EC-778E3BF57E51}"/>
              </a:ext>
            </a:extLst>
          </p:cNvPr>
          <p:cNvSpPr>
            <a:spLocks xmlns:a="http://schemas.openxmlformats.org/drawingml/2006/main" noGrp="1"/>
          </p:cNvSpPr>
          <p:nvPr/>
        </p:nvSpPr>
        <p:spPr>
          <a:xfrm xmlns:a="http://schemas.openxmlformats.org/drawingml/2006/main">
            <a:off x="0" y="0"/>
            <a:ext cx="6096000" cy="6858000"/>
          </a:xfrm>
          <a:prstGeom xmlns:a="http://schemas.openxmlformats.org/drawingml/2006/main" prst="rect">
            <a:avLst/>
          </a:prstGeom>
          <a:solidFill xmlns:a="http://schemas.openxmlformats.org/drawingml/2006/main">
            <a:srgbClr val="0D3B2E"/>
          </a:solidFill>
          <a:ln xmlns:a="http://schemas.openxmlformats.org/drawingml/2006/main" w="0">
            <a:solidFill>
              <a:srgbClr val="0D3B2E"/>
            </a:solidFill>
          </a:ln>
        </p:spPr>
      </p:sp>
      <p:sp>
        <p:nvSpPr>
          <p:cNvPr id="2" name="">
            <a:extLst xmlns:a="http://schemas.openxmlformats.org/drawingml/2006/main">
              <a:ext uri="{FF2B5EF4-FFF2-40B4-BE49-F238E27FC236}">
                <a16:creationId xmlns:a16="http://schemas.microsoft.com/office/drawing/2014/main" id="{44FE0AD0-7357-4232-A4B2-098573D2C03C}"/>
              </a:ext>
            </a:extLst>
          </p:cNvPr>
          <p:cNvSpPr>
            <a:spLocks xmlns:a="http://schemas.openxmlformats.org/drawingml/2006/main" noGrp="1"/>
          </p:cNvSpPr>
          <p:nvPr/>
        </p:nvSpPr>
        <p:spPr>
          <a:xfrm xmlns:a="http://schemas.openxmlformats.org/drawingml/2006/main">
            <a:off x="457200" y="457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A7D46F"/>
                </a:solidFill>
                <a:latin typeface="Helvetica Neue"/>
                <a:ea typeface="Helvetica Neue"/>
                <a:cs typeface="Helvetica Neue"/>
              </a:defRPr>
            </a:pPr>
            <a:r>
              <a:rPr sz="1500" b="1">
                <a:solidFill>
                  <a:srgbClr val="A7D46F"/>
                </a:solidFill>
                <a:latin typeface="Helvetica Neue"/>
                <a:ea typeface="Helvetica Neue"/>
                <a:cs typeface="Helvetica Neue"/>
              </a:rPr>
              <a:t>NOW</a:t>
            </a:r>
          </a:p>
        </p:txBody>
      </p:sp>
      <p:sp>
        <p:nvSpPr>
          <p:cNvPr id="3" name="">
            <a:extLst xmlns:a="http://schemas.openxmlformats.org/drawingml/2006/main">
              <a:ext uri="{FF2B5EF4-FFF2-40B4-BE49-F238E27FC236}">
                <a16:creationId xmlns:a16="http://schemas.microsoft.com/office/drawing/2014/main" id="{6B5EAEDC-0786-4B4F-9AEE-EED01D5DBFD3}"/>
              </a:ext>
            </a:extLst>
          </p:cNvPr>
          <p:cNvSpPr>
            <a:spLocks xmlns:a="http://schemas.openxmlformats.org/drawingml/2006/main" noGrp="1"/>
          </p:cNvSpPr>
          <p:nvPr/>
        </p:nvSpPr>
        <p:spPr>
          <a:xfrm xmlns:a="http://schemas.openxmlformats.org/drawingml/2006/main">
            <a:off x="457200" y="9525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Working in the MVP</a:t>
            </a:r>
          </a:p>
        </p:txBody>
      </p:sp>
      <p:sp>
        <p:nvSpPr>
          <p:cNvPr id="4" name="">
            <a:extLst xmlns:a="http://schemas.openxmlformats.org/drawingml/2006/main">
              <a:ext uri="{FF2B5EF4-FFF2-40B4-BE49-F238E27FC236}">
                <a16:creationId xmlns:a16="http://schemas.microsoft.com/office/drawing/2014/main" id="{B06231BA-820D-42AE-9090-24E0EC532E77}"/>
              </a:ext>
            </a:extLst>
          </p:cNvPr>
          <p:cNvSpPr>
            <a:spLocks xmlns:a="http://schemas.openxmlformats.org/drawingml/2006/main" noGrp="1"/>
          </p:cNvSpPr>
          <p:nvPr/>
        </p:nvSpPr>
        <p:spPr>
          <a:xfrm xmlns:a="http://schemas.openxmlformats.org/drawingml/2006/main">
            <a:off x="457200" y="1952625"/>
            <a:ext cx="4953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Homeowner journey and profiles</a:t>
            </a:r>
          </a:p>
          <a:p xmlns:a="http://schemas.openxmlformats.org/drawingml/2006/main">
            <a:r>
              <a:t/>
            </a:r>
          </a:p>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Scenario and funding comparisons</a:t>
            </a:r>
          </a:p>
          <a:p xmlns:a="http://schemas.openxmlformats.org/drawingml/2006/main">
            <a:r>
              <a:t/>
            </a:r>
          </a:p>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Ordered measures and grant detail</a:t>
            </a:r>
          </a:p>
          <a:p xmlns:a="http://schemas.openxmlformats.org/drawingml/2006/main">
            <a:r>
              <a:t/>
            </a:r>
          </a:p>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Saved PDF briefs</a:t>
            </a:r>
          </a:p>
          <a:p xmlns:a="http://schemas.openxmlformats.org/drawingml/2006/main">
            <a:r>
              <a:t/>
            </a:r>
          </a:p>
          <a:p xmlns:a="http://schemas.openxmlformats.org/drawingml/2006/main">
            <a:pPr>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Retention, deletion and audit controls</a:t>
            </a:r>
          </a:p>
        </p:txBody>
      </p:sp>
      <p:sp>
        <p:nvSpPr>
          <p:cNvPr id="5" name="">
            <a:extLst xmlns:a="http://schemas.openxmlformats.org/drawingml/2006/main">
              <a:ext uri="{FF2B5EF4-FFF2-40B4-BE49-F238E27FC236}">
                <a16:creationId xmlns:a16="http://schemas.microsoft.com/office/drawing/2014/main" id="{C3375BE2-BB5A-4C47-9392-2EB8F0EB8B4D}"/>
              </a:ext>
            </a:extLst>
          </p:cNvPr>
          <p:cNvSpPr>
            <a:spLocks xmlns:a="http://schemas.openxmlformats.org/drawingml/2006/main" noGrp="1"/>
          </p:cNvSpPr>
          <p:nvPr/>
        </p:nvSpPr>
        <p:spPr>
          <a:xfrm xmlns:a="http://schemas.openxmlformats.org/drawingml/2006/main">
            <a:off x="6553200" y="457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0D3B2E"/>
                </a:solidFill>
                <a:latin typeface="Helvetica Neue"/>
                <a:ea typeface="Helvetica Neue"/>
                <a:cs typeface="Helvetica Neue"/>
              </a:defRPr>
            </a:pPr>
            <a:r>
              <a:rPr sz="1500" b="1">
                <a:solidFill>
                  <a:srgbClr val="0D3B2E"/>
                </a:solidFill>
                <a:latin typeface="Helvetica Neue"/>
                <a:ea typeface="Helvetica Neue"/>
                <a:cs typeface="Helvetica Neue"/>
              </a:rPr>
              <a:t>NEXT</a:t>
            </a:r>
          </a:p>
        </p:txBody>
      </p:sp>
      <p:sp>
        <p:nvSpPr>
          <p:cNvPr id="6" name="">
            <a:extLst xmlns:a="http://schemas.openxmlformats.org/drawingml/2006/main">
              <a:ext uri="{FF2B5EF4-FFF2-40B4-BE49-F238E27FC236}">
                <a16:creationId xmlns:a16="http://schemas.microsoft.com/office/drawing/2014/main" id="{20F36A7D-900A-410C-9921-9FF627979BEC}"/>
              </a:ext>
            </a:extLst>
          </p:cNvPr>
          <p:cNvSpPr>
            <a:spLocks xmlns:a="http://schemas.openxmlformats.org/drawingml/2006/main" noGrp="1"/>
          </p:cNvSpPr>
          <p:nvPr/>
        </p:nvSpPr>
        <p:spPr>
          <a:xfrm xmlns:a="http://schemas.openxmlformats.org/drawingml/2006/main">
            <a:off x="6553200" y="952500"/>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15231E"/>
                </a:solidFill>
                <a:latin typeface="Helvetica Neue"/>
                <a:ea typeface="Helvetica Neue"/>
                <a:cs typeface="Helvetica Neue"/>
              </a:defRPr>
            </a:pPr>
            <a:r>
              <a:rPr sz="3225" b="1">
                <a:solidFill>
                  <a:srgbClr val="15231E"/>
                </a:solidFill>
                <a:latin typeface="Helvetica Neue"/>
                <a:ea typeface="Helvetica Neue"/>
                <a:cs typeface="Helvetica Neue"/>
              </a:rPr>
              <a:t>Validation gates</a:t>
            </a:r>
          </a:p>
        </p:txBody>
      </p:sp>
      <p:sp>
        <p:nvSpPr>
          <p:cNvPr id="7" name="">
            <a:extLst xmlns:a="http://schemas.openxmlformats.org/drawingml/2006/main">
              <a:ext uri="{FF2B5EF4-FFF2-40B4-BE49-F238E27FC236}">
                <a16:creationId xmlns:a16="http://schemas.microsoft.com/office/drawing/2014/main" id="{8F42D3CA-0998-4BAD-AAD3-B93128AE7198}"/>
              </a:ext>
            </a:extLst>
          </p:cNvPr>
          <p:cNvSpPr>
            <a:spLocks xmlns:a="http://schemas.openxmlformats.org/drawingml/2006/main" noGrp="1"/>
          </p:cNvSpPr>
          <p:nvPr/>
        </p:nvSpPr>
        <p:spPr>
          <a:xfrm xmlns:a="http://schemas.openxmlformats.org/drawingml/2006/main">
            <a:off x="6553200" y="1952625"/>
            <a:ext cx="49530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5231E"/>
                </a:solidFill>
                <a:latin typeface="Helvetica Neue"/>
                <a:ea typeface="Helvetica Neue"/>
                <a:cs typeface="Helvetica Neue"/>
              </a:defRPr>
            </a:pPr>
            <a:r>
              <a:rPr sz="1725" b="0">
                <a:solidFill>
                  <a:srgbClr val="15231E"/>
                </a:solidFill>
                <a:latin typeface="Helvetica Neue"/>
                <a:ea typeface="Helvetica Neue"/>
                <a:cs typeface="Helvetica Neue"/>
              </a:rPr>
              <a:t>Configure and evaluate live AI</a:t>
            </a:r>
          </a:p>
          <a:p xmlns:a="http://schemas.openxmlformats.org/drawingml/2006/main">
            <a:r>
              <a:t/>
            </a:r>
          </a:p>
          <a:p xmlns:a="http://schemas.openxmlformats.org/drawingml/2006/main">
            <a:pPr>
              <a:defRPr sz="1725" b="0">
                <a:solidFill>
                  <a:srgbClr val="15231E"/>
                </a:solidFill>
                <a:latin typeface="Helvetica Neue"/>
                <a:ea typeface="Helvetica Neue"/>
                <a:cs typeface="Helvetica Neue"/>
              </a:defRPr>
            </a:pPr>
            <a:r>
              <a:rPr sz="1725" b="0">
                <a:solidFill>
                  <a:srgbClr val="15231E"/>
                </a:solidFill>
                <a:latin typeface="Helvetica Neue"/>
                <a:ea typeface="Helvetica Neue"/>
                <a:cs typeface="Helvetica Neue"/>
              </a:rPr>
              <a:t>Harden SEAI source refresh</a:t>
            </a:r>
          </a:p>
          <a:p xmlns:a="http://schemas.openxmlformats.org/drawingml/2006/main">
            <a:r>
              <a:t/>
            </a:r>
          </a:p>
          <a:p xmlns:a="http://schemas.openxmlformats.org/drawingml/2006/main">
            <a:pPr>
              <a:defRPr sz="1725" b="0">
                <a:solidFill>
                  <a:srgbClr val="15231E"/>
                </a:solidFill>
                <a:latin typeface="Helvetica Neue"/>
                <a:ea typeface="Helvetica Neue"/>
                <a:cs typeface="Helvetica Neue"/>
              </a:defRPr>
            </a:pPr>
            <a:r>
              <a:rPr sz="1725" b="0">
                <a:solidFill>
                  <a:srgbClr val="15231E"/>
                </a:solidFill>
                <a:latin typeface="Helvetica Neue"/>
                <a:ea typeface="Helvetica Neue"/>
                <a:cs typeface="Helvetica Neue"/>
              </a:rPr>
              <a:t>Validate rules with an energy adviser</a:t>
            </a:r>
          </a:p>
          <a:p xmlns:a="http://schemas.openxmlformats.org/drawingml/2006/main">
            <a:r>
              <a:t/>
            </a:r>
          </a:p>
          <a:p xmlns:a="http://schemas.openxmlformats.org/drawingml/2006/main">
            <a:pPr>
              <a:defRPr sz="1725" b="0">
                <a:solidFill>
                  <a:srgbClr val="15231E"/>
                </a:solidFill>
                <a:latin typeface="Helvetica Neue"/>
                <a:ea typeface="Helvetica Neue"/>
                <a:cs typeface="Helvetica Neue"/>
              </a:defRPr>
            </a:pPr>
            <a:r>
              <a:rPr sz="1725" b="0">
                <a:solidFill>
                  <a:srgbClr val="15231E"/>
                </a:solidFill>
                <a:latin typeface="Helvetica Neue"/>
                <a:ea typeface="Helvetica Neue"/>
                <a:cs typeface="Helvetica Neue"/>
              </a:rPr>
              <a:t>Pilot with consenting homeowners</a:t>
            </a:r>
          </a:p>
          <a:p xmlns:a="http://schemas.openxmlformats.org/drawingml/2006/main">
            <a:r>
              <a:t/>
            </a:r>
          </a:p>
          <a:p xmlns:a="http://schemas.openxmlformats.org/drawingml/2006/main">
            <a:pPr>
              <a:defRPr sz="1725" b="0">
                <a:solidFill>
                  <a:srgbClr val="15231E"/>
                </a:solidFill>
                <a:latin typeface="Helvetica Neue"/>
                <a:ea typeface="Helvetica Neue"/>
                <a:cs typeface="Helvetica Neue"/>
              </a:defRPr>
            </a:pPr>
            <a:r>
              <a:rPr sz="1725" b="0">
                <a:solidFill>
                  <a:srgbClr val="15231E"/>
                </a:solidFill>
                <a:latin typeface="Helvetica Neue"/>
                <a:ea typeface="Helvetica Neue"/>
                <a:cs typeface="Helvetica Neue"/>
              </a:rPr>
              <a:t>Deploy and review cloud security</a:t>
            </a:r>
          </a:p>
        </p:txBody>
      </p:sp>
      <p:sp>
        <p:nvSpPr>
          <p:cNvPr id="8" name="">
            <a:extLst xmlns:a="http://schemas.openxmlformats.org/drawingml/2006/main">
              <a:ext uri="{FF2B5EF4-FFF2-40B4-BE49-F238E27FC236}">
                <a16:creationId xmlns:a16="http://schemas.microsoft.com/office/drawing/2014/main" id="{FED4FC09-8053-4B53-ACBE-762F4B715140}"/>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09</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722ACEE-8B60-44CA-83CF-68C8F2BCF55C}"/>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TARGET CONSUMER</a:t>
            </a:r>
          </a:p>
        </p:txBody>
      </p:sp>
      <p:sp>
        <p:nvSpPr>
          <p:cNvPr id="2" name="">
            <a:extLst xmlns:a="http://schemas.openxmlformats.org/drawingml/2006/main">
              <a:ext uri="{FF2B5EF4-FFF2-40B4-BE49-F238E27FC236}">
                <a16:creationId xmlns:a16="http://schemas.microsoft.com/office/drawing/2014/main" id="{7D40E18C-7EA2-48F9-88F7-3B09521F5BC0}"/>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Homeowners use it; retrofit partners can fund it</a:t>
            </a:r>
          </a:p>
        </p:txBody>
      </p:sp>
      <p:sp>
        <p:nvSpPr>
          <p:cNvPr id="3" name="">
            <a:extLst xmlns:a="http://schemas.openxmlformats.org/drawingml/2006/main">
              <a:ext uri="{FF2B5EF4-FFF2-40B4-BE49-F238E27FC236}">
                <a16:creationId xmlns:a16="http://schemas.microsoft.com/office/drawing/2014/main" id="{7FD9E946-7CF6-4FE9-80B2-25470CCE3576}"/>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A26A1411-5DD3-4BF6-AEA6-59C4693F9399}"/>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19753401-AB49-4C11-894D-DB9911EC5CE1}"/>
              </a:ext>
            </a:extLst>
          </p:cNvPr>
          <p:cNvSpPr>
            <a:spLocks xmlns:a="http://schemas.openxmlformats.org/drawingml/2006/main" noGrp="1"/>
          </p:cNvSpPr>
          <p:nvPr/>
        </p:nvSpPr>
        <p:spPr>
          <a:xfrm xmlns:a="http://schemas.openxmlformats.org/drawingml/2006/main">
            <a:off x="457200" y="1714500"/>
            <a:ext cx="6762750" cy="3714750"/>
          </a:xfrm>
          <a:prstGeom xmlns:a="http://schemas.openxmlformats.org/drawingml/2006/main" prst="roundRect">
            <a:avLst>
              <a:gd name="adj" fmla="val 4615"/>
            </a:avLst>
          </a:prstGeom>
          <a:solidFill xmlns:a="http://schemas.openxmlformats.org/drawingml/2006/main">
            <a:srgbClr val="0D3B2E"/>
          </a:solidFill>
          <a:ln xmlns:a="http://schemas.openxmlformats.org/drawingml/2006/main" w="0">
            <a:solidFill>
              <a:srgbClr val="0D3B2E"/>
            </a:solidFill>
          </a:ln>
        </p:spPr>
      </p:sp>
      <p:sp>
        <p:nvSpPr>
          <p:cNvPr id="6" name="">
            <a:extLst xmlns:a="http://schemas.openxmlformats.org/drawingml/2006/main">
              <a:ext uri="{FF2B5EF4-FFF2-40B4-BE49-F238E27FC236}">
                <a16:creationId xmlns:a16="http://schemas.microsoft.com/office/drawing/2014/main" id="{874BE51C-6C55-44F7-AD0B-7F66A2D0052D}"/>
              </a:ext>
            </a:extLst>
          </p:cNvPr>
          <p:cNvSpPr>
            <a:spLocks xmlns:a="http://schemas.openxmlformats.org/drawingml/2006/main" noGrp="1"/>
          </p:cNvSpPr>
          <p:nvPr/>
        </p:nvSpPr>
        <p:spPr>
          <a:xfrm xmlns:a="http://schemas.openxmlformats.org/drawingml/2006/main">
            <a:off x="781050" y="2038350"/>
            <a:ext cx="123825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PRIMARY USER</a:t>
            </a:r>
          </a:p>
        </p:txBody>
      </p:sp>
      <p:sp>
        <p:nvSpPr>
          <p:cNvPr id="7" name="">
            <a:extLst xmlns:a="http://schemas.openxmlformats.org/drawingml/2006/main">
              <a:ext uri="{FF2B5EF4-FFF2-40B4-BE49-F238E27FC236}">
                <a16:creationId xmlns:a16="http://schemas.microsoft.com/office/drawing/2014/main" id="{26EADD21-CEFA-42C4-B966-D23E4084DBE9}"/>
              </a:ext>
            </a:extLst>
          </p:cNvPr>
          <p:cNvSpPr>
            <a:spLocks xmlns:a="http://schemas.openxmlformats.org/drawingml/2006/main" noGrp="1"/>
          </p:cNvSpPr>
          <p:nvPr/>
        </p:nvSpPr>
        <p:spPr>
          <a:xfrm xmlns:a="http://schemas.openxmlformats.org/drawingml/2006/main">
            <a:off x="781050" y="257175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75" b="1">
                <a:solidFill>
                  <a:srgbClr val="FFFFFF"/>
                </a:solidFill>
                <a:latin typeface="Helvetica Neue"/>
                <a:ea typeface="Helvetica Neue"/>
                <a:cs typeface="Helvetica Neue"/>
              </a:defRPr>
            </a:pPr>
            <a:r>
              <a:rPr sz="3075" b="1">
                <a:solidFill>
                  <a:srgbClr val="FFFFFF"/>
                </a:solidFill>
                <a:latin typeface="Helvetica Neue"/>
                <a:ea typeface="Helvetica Neue"/>
                <a:cs typeface="Helvetica Neue"/>
              </a:rPr>
              <a:t>Irish homeowners</a:t>
            </a:r>
          </a:p>
        </p:txBody>
      </p:sp>
      <p:sp>
        <p:nvSpPr>
          <p:cNvPr id="8" name="">
            <a:extLst xmlns:a="http://schemas.openxmlformats.org/drawingml/2006/main">
              <a:ext uri="{FF2B5EF4-FFF2-40B4-BE49-F238E27FC236}">
                <a16:creationId xmlns:a16="http://schemas.microsoft.com/office/drawing/2014/main" id="{569C7F9A-0E0B-4F0F-8A83-B56AF450648F}"/>
              </a:ext>
            </a:extLst>
          </p:cNvPr>
          <p:cNvSpPr>
            <a:spLocks xmlns:a="http://schemas.openxmlformats.org/drawingml/2006/main" noGrp="1"/>
          </p:cNvSpPr>
          <p:nvPr/>
        </p:nvSpPr>
        <p:spPr>
          <a:xfrm xmlns:a="http://schemas.openxmlformats.org/drawingml/2006/main">
            <a:off x="781050" y="333375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DCE9E1"/>
                </a:solidFill>
                <a:latin typeface="Helvetica Neue"/>
                <a:ea typeface="Helvetica Neue"/>
                <a:cs typeface="Helvetica Neue"/>
              </a:defRPr>
            </a:pPr>
            <a:r>
              <a:rPr sz="1950" b="0">
                <a:solidFill>
                  <a:srgbClr val="DCE9E1"/>
                </a:solidFill>
                <a:latin typeface="Helvetica Neue"/>
                <a:ea typeface="Helvetica Neue"/>
                <a:cs typeface="Helvetica Neue"/>
              </a:rPr>
              <a:t>People who want a clearer sequence, budget and evidence checklist before requesting quotations.</a:t>
            </a:r>
          </a:p>
        </p:txBody>
      </p:sp>
      <p:sp>
        <p:nvSpPr>
          <p:cNvPr id="9" name="">
            <a:extLst xmlns:a="http://schemas.openxmlformats.org/drawingml/2006/main">
              <a:ext uri="{FF2B5EF4-FFF2-40B4-BE49-F238E27FC236}">
                <a16:creationId xmlns:a16="http://schemas.microsoft.com/office/drawing/2014/main" id="{1681FC06-1151-48A2-B023-8A3485C67F62}"/>
              </a:ext>
            </a:extLst>
          </p:cNvPr>
          <p:cNvSpPr>
            <a:spLocks xmlns:a="http://schemas.openxmlformats.org/drawingml/2006/main" noGrp="1"/>
          </p:cNvSpPr>
          <p:nvPr/>
        </p:nvSpPr>
        <p:spPr>
          <a:xfrm xmlns:a="http://schemas.openxmlformats.org/drawingml/2006/main">
            <a:off x="781050" y="4648200"/>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Outcome: a better prepared conversation with an adviser or contractor.</a:t>
            </a:r>
          </a:p>
        </p:txBody>
      </p:sp>
      <p:sp>
        <p:nvSpPr>
          <p:cNvPr id="10" name="">
            <a:extLst xmlns:a="http://schemas.openxmlformats.org/drawingml/2006/main">
              <a:ext uri="{FF2B5EF4-FFF2-40B4-BE49-F238E27FC236}">
                <a16:creationId xmlns:a16="http://schemas.microsoft.com/office/drawing/2014/main" id="{583D0DDF-8CFE-43DA-A22D-665E65408170}"/>
              </a:ext>
            </a:extLst>
          </p:cNvPr>
          <p:cNvSpPr>
            <a:spLocks xmlns:a="http://schemas.openxmlformats.org/drawingml/2006/main" noGrp="1"/>
          </p:cNvSpPr>
          <p:nvPr/>
        </p:nvSpPr>
        <p:spPr>
          <a:xfrm xmlns:a="http://schemas.openxmlformats.org/drawingml/2006/main">
            <a:off x="7810500" y="19050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D3B2E"/>
                </a:solidFill>
                <a:latin typeface="Helvetica Neue"/>
                <a:ea typeface="Helvetica Neue"/>
                <a:cs typeface="Helvetica Neue"/>
              </a:defRPr>
            </a:pPr>
            <a:r>
              <a:rPr sz="1275" b="1">
                <a:solidFill>
                  <a:srgbClr val="0D3B2E"/>
                </a:solidFill>
                <a:latin typeface="Helvetica Neue"/>
                <a:ea typeface="Helvetica Neue"/>
                <a:cs typeface="Helvetica Neue"/>
              </a:rPr>
              <a:t>POTENTIAL PAYERS</a:t>
            </a:r>
          </a:p>
        </p:txBody>
      </p:sp>
      <p:sp>
        <p:nvSpPr>
          <p:cNvPr id="11" name="">
            <a:extLst xmlns:a="http://schemas.openxmlformats.org/drawingml/2006/main">
              <a:ext uri="{FF2B5EF4-FFF2-40B4-BE49-F238E27FC236}">
                <a16:creationId xmlns:a16="http://schemas.microsoft.com/office/drawing/2014/main" id="{8F1C0C92-4219-44C4-8F81-4300FAF412B6}"/>
              </a:ext>
            </a:extLst>
          </p:cNvPr>
          <p:cNvSpPr>
            <a:spLocks xmlns:a="http://schemas.openxmlformats.org/drawingml/2006/main" noGrp="1"/>
          </p:cNvSpPr>
          <p:nvPr/>
        </p:nvSpPr>
        <p:spPr>
          <a:xfrm xmlns:a="http://schemas.openxmlformats.org/drawingml/2006/main">
            <a:off x="7810500" y="247650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15231E"/>
                </a:solidFill>
                <a:latin typeface="Helvetica Neue"/>
                <a:ea typeface="Helvetica Neue"/>
                <a:cs typeface="Helvetica Neue"/>
              </a:defRPr>
            </a:pPr>
            <a:r>
              <a:rPr sz="1650" b="1">
                <a:solidFill>
                  <a:srgbClr val="15231E"/>
                </a:solidFill>
                <a:latin typeface="Helvetica Neue"/>
                <a:ea typeface="Helvetica Neue"/>
                <a:cs typeface="Helvetica Neue"/>
              </a:rPr>
              <a:t>Energy advisers + One Stop Shops</a:t>
            </a:r>
          </a:p>
        </p:txBody>
      </p:sp>
      <p:sp>
        <p:nvSpPr>
          <p:cNvPr id="12" name="">
            <a:extLst xmlns:a="http://schemas.openxmlformats.org/drawingml/2006/main">
              <a:ext uri="{FF2B5EF4-FFF2-40B4-BE49-F238E27FC236}">
                <a16:creationId xmlns:a16="http://schemas.microsoft.com/office/drawing/2014/main" id="{FCB2ADD3-C079-41A2-9C83-F4A4CB42E3D8}"/>
              </a:ext>
            </a:extLst>
          </p:cNvPr>
          <p:cNvSpPr>
            <a:spLocks xmlns:a="http://schemas.openxmlformats.org/drawingml/2006/main" noGrp="1"/>
          </p:cNvSpPr>
          <p:nvPr/>
        </p:nvSpPr>
        <p:spPr>
          <a:xfrm xmlns:a="http://schemas.openxmlformats.org/drawingml/2006/main">
            <a:off x="7810500" y="2838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E6C66"/>
                </a:solidFill>
                <a:latin typeface="Helvetica Neue"/>
                <a:ea typeface="Helvetica Neue"/>
                <a:cs typeface="Helvetica Neue"/>
              </a:defRPr>
            </a:pPr>
            <a:r>
              <a:rPr sz="1350" b="0">
                <a:solidFill>
                  <a:srgbClr val="5E6C66"/>
                </a:solidFill>
                <a:latin typeface="Helvetica Neue"/>
                <a:ea typeface="Helvetica Neue"/>
                <a:cs typeface="Helvetica Neue"/>
              </a:rPr>
              <a:t>Better prepared homeowner enquiries</a:t>
            </a:r>
          </a:p>
        </p:txBody>
      </p:sp>
      <p:sp>
        <p:nvSpPr>
          <p:cNvPr id="13" name="">
            <a:extLst xmlns:a="http://schemas.openxmlformats.org/drawingml/2006/main">
              <a:ext uri="{FF2B5EF4-FFF2-40B4-BE49-F238E27FC236}">
                <a16:creationId xmlns:a16="http://schemas.microsoft.com/office/drawing/2014/main" id="{9CF4D1F7-DE47-4248-A38E-A0B10E0BF9AB}"/>
              </a:ext>
            </a:extLst>
          </p:cNvPr>
          <p:cNvSpPr>
            <a:spLocks xmlns:a="http://schemas.openxmlformats.org/drawingml/2006/main" noGrp="1"/>
          </p:cNvSpPr>
          <p:nvPr/>
        </p:nvSpPr>
        <p:spPr>
          <a:xfrm xmlns:a="http://schemas.openxmlformats.org/drawingml/2006/main">
            <a:off x="7810500" y="3314700"/>
            <a:ext cx="352425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14" name="">
            <a:extLst xmlns:a="http://schemas.openxmlformats.org/drawingml/2006/main">
              <a:ext uri="{FF2B5EF4-FFF2-40B4-BE49-F238E27FC236}">
                <a16:creationId xmlns:a16="http://schemas.microsoft.com/office/drawing/2014/main" id="{A1ED7246-395A-474E-B088-4CEBB19FF1AD}"/>
              </a:ext>
            </a:extLst>
          </p:cNvPr>
          <p:cNvSpPr>
            <a:spLocks xmlns:a="http://schemas.openxmlformats.org/drawingml/2006/main" noGrp="1"/>
          </p:cNvSpPr>
          <p:nvPr/>
        </p:nvSpPr>
        <p:spPr>
          <a:xfrm xmlns:a="http://schemas.openxmlformats.org/drawingml/2006/main">
            <a:off x="7810500" y="34766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15231E"/>
                </a:solidFill>
                <a:latin typeface="Helvetica Neue"/>
                <a:ea typeface="Helvetica Neue"/>
                <a:cs typeface="Helvetica Neue"/>
              </a:defRPr>
            </a:pPr>
            <a:r>
              <a:rPr sz="1650" b="1">
                <a:solidFill>
                  <a:srgbClr val="15231E"/>
                </a:solidFill>
                <a:latin typeface="Helvetica Neue"/>
                <a:ea typeface="Helvetica Neue"/>
                <a:cs typeface="Helvetica Neue"/>
              </a:rPr>
              <a:t>Retrofit contractors</a:t>
            </a:r>
          </a:p>
        </p:txBody>
      </p:sp>
      <p:sp>
        <p:nvSpPr>
          <p:cNvPr id="15" name="">
            <a:extLst xmlns:a="http://schemas.openxmlformats.org/drawingml/2006/main">
              <a:ext uri="{FF2B5EF4-FFF2-40B4-BE49-F238E27FC236}">
                <a16:creationId xmlns:a16="http://schemas.microsoft.com/office/drawing/2014/main" id="{21FEEC57-F471-4245-88C5-F4BAB8E22401}"/>
              </a:ext>
            </a:extLst>
          </p:cNvPr>
          <p:cNvSpPr>
            <a:spLocks xmlns:a="http://schemas.openxmlformats.org/drawingml/2006/main" noGrp="1"/>
          </p:cNvSpPr>
          <p:nvPr/>
        </p:nvSpPr>
        <p:spPr>
          <a:xfrm xmlns:a="http://schemas.openxmlformats.org/drawingml/2006/main">
            <a:off x="7810500" y="38385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E6C66"/>
                </a:solidFill>
                <a:latin typeface="Helvetica Neue"/>
                <a:ea typeface="Helvetica Neue"/>
                <a:cs typeface="Helvetica Neue"/>
              </a:defRPr>
            </a:pPr>
            <a:r>
              <a:rPr sz="1350" b="0">
                <a:solidFill>
                  <a:srgbClr val="5E6C66"/>
                </a:solidFill>
                <a:latin typeface="Helvetica Neue"/>
                <a:ea typeface="Helvetica Neue"/>
                <a:cs typeface="Helvetica Neue"/>
              </a:rPr>
              <a:t>Clearer scope before quotation</a:t>
            </a:r>
          </a:p>
        </p:txBody>
      </p:sp>
      <p:sp>
        <p:nvSpPr>
          <p:cNvPr id="16" name="">
            <a:extLst xmlns:a="http://schemas.openxmlformats.org/drawingml/2006/main">
              <a:ext uri="{FF2B5EF4-FFF2-40B4-BE49-F238E27FC236}">
                <a16:creationId xmlns:a16="http://schemas.microsoft.com/office/drawing/2014/main" id="{EDA22FBA-0894-43A6-8D6A-F340147DBB22}"/>
              </a:ext>
            </a:extLst>
          </p:cNvPr>
          <p:cNvSpPr>
            <a:spLocks xmlns:a="http://schemas.openxmlformats.org/drawingml/2006/main" noGrp="1"/>
          </p:cNvSpPr>
          <p:nvPr/>
        </p:nvSpPr>
        <p:spPr>
          <a:xfrm xmlns:a="http://schemas.openxmlformats.org/drawingml/2006/main">
            <a:off x="7810500" y="4314825"/>
            <a:ext cx="3524250" cy="0"/>
          </a:xfrm>
          <a:prstGeom xmlns:a="http://schemas.openxmlformats.org/drawingml/2006/main" prst="line">
            <a:avLst/>
          </a:prstGeom>
          <a:noFill xmlns:a="http://schemas.openxmlformats.org/drawingml/2006/main"/>
          <a:ln xmlns:a="http://schemas.openxmlformats.org/drawingml/2006/main" w="9525">
            <a:solidFill>
              <a:srgbClr val="CDD9D1"/>
            </a:solidFill>
            <a:prstDash val="solid"/>
          </a:ln>
        </p:spPr>
      </p:sp>
      <p:sp>
        <p:nvSpPr>
          <p:cNvPr id="17" name="">
            <a:extLst xmlns:a="http://schemas.openxmlformats.org/drawingml/2006/main">
              <a:ext uri="{FF2B5EF4-FFF2-40B4-BE49-F238E27FC236}">
                <a16:creationId xmlns:a16="http://schemas.microsoft.com/office/drawing/2014/main" id="{2573142F-615D-45E3-9A19-7EFD208E3559}"/>
              </a:ext>
            </a:extLst>
          </p:cNvPr>
          <p:cNvSpPr>
            <a:spLocks xmlns:a="http://schemas.openxmlformats.org/drawingml/2006/main" noGrp="1"/>
          </p:cNvSpPr>
          <p:nvPr/>
        </p:nvSpPr>
        <p:spPr>
          <a:xfrm xmlns:a="http://schemas.openxmlformats.org/drawingml/2006/main">
            <a:off x="7810500" y="44767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1">
                <a:solidFill>
                  <a:srgbClr val="15231E"/>
                </a:solidFill>
                <a:latin typeface="Helvetica Neue"/>
                <a:ea typeface="Helvetica Neue"/>
                <a:cs typeface="Helvetica Neue"/>
              </a:defRPr>
            </a:pPr>
            <a:r>
              <a:rPr sz="1650" b="1">
                <a:solidFill>
                  <a:srgbClr val="15231E"/>
                </a:solidFill>
                <a:latin typeface="Helvetica Neue"/>
                <a:ea typeface="Helvetica Neue"/>
                <a:cs typeface="Helvetica Neue"/>
              </a:rPr>
              <a:t>Credit unions + AHBs</a:t>
            </a:r>
          </a:p>
        </p:txBody>
      </p:sp>
      <p:sp>
        <p:nvSpPr>
          <p:cNvPr id="18" name="">
            <a:extLst xmlns:a="http://schemas.openxmlformats.org/drawingml/2006/main">
              <a:ext uri="{FF2B5EF4-FFF2-40B4-BE49-F238E27FC236}">
                <a16:creationId xmlns:a16="http://schemas.microsoft.com/office/drawing/2014/main" id="{E140E648-F3C0-4503-ABA0-FB868065CAD0}"/>
              </a:ext>
            </a:extLst>
          </p:cNvPr>
          <p:cNvSpPr>
            <a:spLocks xmlns:a="http://schemas.openxmlformats.org/drawingml/2006/main" noGrp="1"/>
          </p:cNvSpPr>
          <p:nvPr/>
        </p:nvSpPr>
        <p:spPr>
          <a:xfrm xmlns:a="http://schemas.openxmlformats.org/drawingml/2006/main">
            <a:off x="7810500" y="48387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E6C66"/>
                </a:solidFill>
                <a:latin typeface="Helvetica Neue"/>
                <a:ea typeface="Helvetica Neue"/>
                <a:cs typeface="Helvetica Neue"/>
              </a:defRPr>
            </a:pPr>
            <a:r>
              <a:rPr sz="1350" b="0">
                <a:solidFill>
                  <a:srgbClr val="5E6C66"/>
                </a:solidFill>
                <a:latin typeface="Helvetica Neue"/>
                <a:ea typeface="Helvetica Neue"/>
                <a:cs typeface="Helvetica Neue"/>
              </a:rPr>
              <a:t>Structured planning for finance or portfolios</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9905E44-A761-40F9-B53B-5AE534BC05F5}"/>
              </a:ext>
            </a:extLst>
          </p:cNvPr>
          <p:cNvSpPr>
            <a:spLocks xmlns:a="http://schemas.openxmlformats.org/drawingml/2006/main" noGrp="1"/>
          </p:cNvSpPr>
          <p:nvPr/>
        </p:nvSpPr>
        <p:spPr>
          <a:xfrm xmlns:a="http://schemas.openxmlformats.org/drawingml/2006/main">
            <a:off x="457200" y="304800"/>
            <a:ext cx="857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PROPOSED PILOT</a:t>
            </a:r>
          </a:p>
        </p:txBody>
      </p:sp>
      <p:sp>
        <p:nvSpPr>
          <p:cNvPr id="2" name="">
            <a:extLst xmlns:a="http://schemas.openxmlformats.org/drawingml/2006/main">
              <a:ext uri="{FF2B5EF4-FFF2-40B4-BE49-F238E27FC236}">
                <a16:creationId xmlns:a16="http://schemas.microsoft.com/office/drawing/2014/main" id="{968BE1BB-E4D5-4D83-B5C1-681F3CF271CB}"/>
              </a:ext>
            </a:extLst>
          </p:cNvPr>
          <p:cNvSpPr>
            <a:spLocks xmlns:a="http://schemas.openxmlformats.org/drawingml/2006/main" noGrp="1"/>
          </p:cNvSpPr>
          <p:nvPr/>
        </p:nvSpPr>
        <p:spPr>
          <a:xfrm xmlns:a="http://schemas.openxmlformats.org/drawingml/2006/main">
            <a:off x="457200" y="647700"/>
            <a:ext cx="11049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15231E"/>
                </a:solidFill>
                <a:latin typeface="Helvetica Neue"/>
                <a:ea typeface="Helvetica Neue"/>
                <a:cs typeface="Helvetica Neue"/>
              </a:defRPr>
            </a:pPr>
            <a:r>
              <a:rPr sz="3150" b="1">
                <a:solidFill>
                  <a:srgbClr val="15231E"/>
                </a:solidFill>
                <a:latin typeface="Helvetica Neue"/>
                <a:ea typeface="Helvetica Neue"/>
                <a:cs typeface="Helvetica Neue"/>
              </a:rPr>
              <a:t>A six-week pilot can test usefulness and accuracy</a:t>
            </a:r>
          </a:p>
        </p:txBody>
      </p:sp>
      <p:sp>
        <p:nvSpPr>
          <p:cNvPr id="3" name="">
            <a:extLst xmlns:a="http://schemas.openxmlformats.org/drawingml/2006/main">
              <a:ext uri="{FF2B5EF4-FFF2-40B4-BE49-F238E27FC236}">
                <a16:creationId xmlns:a16="http://schemas.microsoft.com/office/drawing/2014/main" id="{F6301D44-514C-491F-868D-30C1C8F30B68}"/>
              </a:ext>
            </a:extLst>
          </p:cNvPr>
          <p:cNvSpPr>
            <a:spLocks xmlns:a="http://schemas.openxmlformats.org/drawingml/2006/main" noGrp="1"/>
          </p:cNvSpPr>
          <p:nvPr/>
        </p:nvSpPr>
        <p:spPr>
          <a:xfrm xmlns:a="http://schemas.openxmlformats.org/drawingml/2006/main">
            <a:off x="457200" y="64198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RETROFIT PATHFINDER</a:t>
            </a:r>
          </a:p>
        </p:txBody>
      </p:sp>
      <p:sp>
        <p:nvSpPr>
          <p:cNvPr id="4" name="">
            <a:extLst xmlns:a="http://schemas.openxmlformats.org/drawingml/2006/main">
              <a:ext uri="{FF2B5EF4-FFF2-40B4-BE49-F238E27FC236}">
                <a16:creationId xmlns:a16="http://schemas.microsoft.com/office/drawing/2014/main" id="{6689A114-8EB5-4BDE-9BFE-2CC211582E38}"/>
              </a:ext>
            </a:extLst>
          </p:cNvPr>
          <p:cNvSpPr>
            <a:spLocks xmlns:a="http://schemas.openxmlformats.org/drawingml/2006/main" noGrp="1"/>
          </p:cNvSpPr>
          <p:nvPr/>
        </p:nvSpPr>
        <p:spPr>
          <a:xfrm xmlns:a="http://schemas.openxmlformats.org/drawingml/2006/main">
            <a:off x="11334750" y="6419850"/>
            <a:ext cx="4000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1">
                <a:solidFill>
                  <a:srgbClr val="5E6C66"/>
                </a:solidFill>
                <a:latin typeface="Helvetica Neue"/>
                <a:ea typeface="Helvetica Neue"/>
                <a:cs typeface="Helvetica Neue"/>
              </a:defRPr>
            </a:pPr>
            <a:r>
              <a:rPr sz="900" b="1">
                <a:solidFill>
                  <a:srgbClr val="5E6C66"/>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91280237-4A48-4D83-BE9C-6224960B5CF6}"/>
              </a:ext>
            </a:extLst>
          </p:cNvPr>
          <p:cNvSpPr>
            <a:spLocks xmlns:a="http://schemas.openxmlformats.org/drawingml/2006/main" noGrp="1"/>
          </p:cNvSpPr>
          <p:nvPr/>
        </p:nvSpPr>
        <p:spPr>
          <a:xfrm xmlns:a="http://schemas.openxmlformats.org/drawingml/2006/main">
            <a:off x="1047750" y="2724150"/>
            <a:ext cx="9715500" cy="0"/>
          </a:xfrm>
          <a:prstGeom xmlns:a="http://schemas.openxmlformats.org/drawingml/2006/main" prst="line">
            <a:avLst/>
          </a:prstGeom>
          <a:noFill xmlns:a="http://schemas.openxmlformats.org/drawingml/2006/main"/>
          <a:ln xmlns:a="http://schemas.openxmlformats.org/drawingml/2006/main" w="47625">
            <a:solidFill>
              <a:srgbClr val="CDD9D1"/>
            </a:solidFill>
            <a:prstDash val="solid"/>
          </a:ln>
        </p:spPr>
      </p:sp>
      <p:sp>
        <p:nvSpPr>
          <p:cNvPr id="6" name="">
            <a:extLst xmlns:a="http://schemas.openxmlformats.org/drawingml/2006/main">
              <a:ext uri="{FF2B5EF4-FFF2-40B4-BE49-F238E27FC236}">
                <a16:creationId xmlns:a16="http://schemas.microsoft.com/office/drawing/2014/main" id="{214C8057-14B5-4C7D-AE91-CAC42CB28668}"/>
              </a:ext>
            </a:extLst>
          </p:cNvPr>
          <p:cNvSpPr>
            <a:spLocks xmlns:a="http://schemas.openxmlformats.org/drawingml/2006/main" noGrp="1"/>
          </p:cNvSpPr>
          <p:nvPr/>
        </p:nvSpPr>
        <p:spPr>
          <a:xfrm xmlns:a="http://schemas.openxmlformats.org/drawingml/2006/main">
            <a:off x="838200" y="2381250"/>
            <a:ext cx="685800" cy="685800"/>
          </a:xfrm>
          <a:prstGeom xmlns:a="http://schemas.openxmlformats.org/drawingml/2006/main" prst="roundRect">
            <a:avLst>
              <a:gd name="adj" fmla="val 50000"/>
            </a:avLst>
          </a:prstGeom>
          <a:solidFill xmlns:a="http://schemas.openxmlformats.org/drawingml/2006/main">
            <a:srgbClr val="0D3B2E"/>
          </a:solidFill>
          <a:ln xmlns:a="http://schemas.openxmlformats.org/drawingml/2006/main" w="0">
            <a:solidFill>
              <a:srgbClr val="0D3B2E"/>
            </a:solidFill>
          </a:ln>
        </p:spPr>
        <p:txBody>
          <a:bodyPr xmlns:a="http://schemas.openxmlformats.org/drawingml/2006/main" anchor="ct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49E2CF08-A91F-4D10-9835-C4F6DEF140C1}"/>
              </a:ext>
            </a:extLst>
          </p:cNvPr>
          <p:cNvSpPr>
            <a:spLocks xmlns:a="http://schemas.openxmlformats.org/drawingml/2006/main" noGrp="1"/>
          </p:cNvSpPr>
          <p:nvPr/>
        </p:nvSpPr>
        <p:spPr>
          <a:xfrm xmlns:a="http://schemas.openxmlformats.org/drawingml/2006/main">
            <a:off x="647700" y="3429000"/>
            <a:ext cx="1181100" cy="323850"/>
          </a:xfrm>
          <a:prstGeom xmlns:a="http://schemas.openxmlformats.org/drawingml/2006/main" prst="roundRect">
            <a:avLst>
              <a:gd name="adj" fmla="val 50000"/>
            </a:avLst>
          </a:prstGeom>
          <a:solidFill xmlns:a="http://schemas.openxmlformats.org/drawingml/2006/main">
            <a:srgbClr val="E8F1EB"/>
          </a:solidFill>
          <a:ln xmlns:a="http://schemas.openxmlformats.org/drawingml/2006/main" w="0">
            <a:solidFill>
              <a:srgbClr val="E8F1EB"/>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WEEKS 1–2</a:t>
            </a:r>
          </a:p>
        </p:txBody>
      </p:sp>
      <p:sp>
        <p:nvSpPr>
          <p:cNvPr id="8" name="">
            <a:extLst xmlns:a="http://schemas.openxmlformats.org/drawingml/2006/main">
              <a:ext uri="{FF2B5EF4-FFF2-40B4-BE49-F238E27FC236}">
                <a16:creationId xmlns:a16="http://schemas.microsoft.com/office/drawing/2014/main" id="{FA93A01A-8F44-48B4-AD6D-142D3C0CDB69}"/>
              </a:ext>
            </a:extLst>
          </p:cNvPr>
          <p:cNvSpPr>
            <a:spLocks xmlns:a="http://schemas.openxmlformats.org/drawingml/2006/main" noGrp="1"/>
          </p:cNvSpPr>
          <p:nvPr/>
        </p:nvSpPr>
        <p:spPr>
          <a:xfrm xmlns:a="http://schemas.openxmlformats.org/drawingml/2006/main">
            <a:off x="647700" y="39052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0D3B2E"/>
                </a:solidFill>
                <a:latin typeface="Helvetica Neue"/>
                <a:ea typeface="Helvetica Neue"/>
                <a:cs typeface="Helvetica Neue"/>
              </a:defRPr>
            </a:pPr>
            <a:r>
              <a:rPr sz="1800" b="1">
                <a:solidFill>
                  <a:srgbClr val="0D3B2E"/>
                </a:solidFill>
                <a:latin typeface="Helvetica Neue"/>
                <a:ea typeface="Helvetica Neue"/>
                <a:cs typeface="Helvetica Neue"/>
              </a:rPr>
              <a:t>VALIDATE</a:t>
            </a:r>
          </a:p>
        </p:txBody>
      </p:sp>
      <p:sp>
        <p:nvSpPr>
          <p:cNvPr id="9" name="">
            <a:extLst xmlns:a="http://schemas.openxmlformats.org/drawingml/2006/main">
              <a:ext uri="{FF2B5EF4-FFF2-40B4-BE49-F238E27FC236}">
                <a16:creationId xmlns:a16="http://schemas.microsoft.com/office/drawing/2014/main" id="{AD9DD5D1-80D6-4766-B4CF-28E99E06D09F}"/>
              </a:ext>
            </a:extLst>
          </p:cNvPr>
          <p:cNvSpPr>
            <a:spLocks xmlns:a="http://schemas.openxmlformats.org/drawingml/2006/main" noGrp="1"/>
          </p:cNvSpPr>
          <p:nvPr/>
        </p:nvSpPr>
        <p:spPr>
          <a:xfrm xmlns:a="http://schemas.openxmlformats.org/drawingml/2006/main">
            <a:off x="647700" y="4400550"/>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E6C66"/>
                </a:solidFill>
                <a:latin typeface="Helvetica Neue"/>
                <a:ea typeface="Helvetica Neue"/>
                <a:cs typeface="Helvetica Neue"/>
              </a:defRPr>
            </a:pPr>
            <a:r>
              <a:rPr sz="1575" b="0">
                <a:solidFill>
                  <a:srgbClr val="5E6C66"/>
                </a:solidFill>
                <a:latin typeface="Helvetica Neue"/>
                <a:ea typeface="Helvetica Neue"/>
                <a:cs typeface="Helvetica Neue"/>
              </a:rPr>
              <a:t>Adviser review of rules, source quality and realistic test homes.</a:t>
            </a:r>
          </a:p>
        </p:txBody>
      </p:sp>
      <p:sp>
        <p:nvSpPr>
          <p:cNvPr id="10" name="">
            <a:extLst xmlns:a="http://schemas.openxmlformats.org/drawingml/2006/main">
              <a:ext uri="{FF2B5EF4-FFF2-40B4-BE49-F238E27FC236}">
                <a16:creationId xmlns:a16="http://schemas.microsoft.com/office/drawing/2014/main" id="{ED54A9DA-C3B8-43E5-B294-69433841490A}"/>
              </a:ext>
            </a:extLst>
          </p:cNvPr>
          <p:cNvSpPr>
            <a:spLocks xmlns:a="http://schemas.openxmlformats.org/drawingml/2006/main" noGrp="1"/>
          </p:cNvSpPr>
          <p:nvPr/>
        </p:nvSpPr>
        <p:spPr>
          <a:xfrm xmlns:a="http://schemas.openxmlformats.org/drawingml/2006/main">
            <a:off x="4648200" y="2381250"/>
            <a:ext cx="685800" cy="68580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2025" b="1">
                <a:solidFill>
                  <a:srgbClr val="0D3B2E"/>
                </a:solidFill>
                <a:latin typeface="Helvetica Neue"/>
                <a:ea typeface="Helvetica Neue"/>
                <a:cs typeface="Helvetica Neue"/>
              </a:defRPr>
            </a:pPr>
            <a:r>
              <a:rPr sz="2025" b="1">
                <a:solidFill>
                  <a:srgbClr val="0D3B2E"/>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0F6D18B1-488A-426B-BCF7-B547269E1DDA}"/>
              </a:ext>
            </a:extLst>
          </p:cNvPr>
          <p:cNvSpPr>
            <a:spLocks xmlns:a="http://schemas.openxmlformats.org/drawingml/2006/main" noGrp="1"/>
          </p:cNvSpPr>
          <p:nvPr/>
        </p:nvSpPr>
        <p:spPr>
          <a:xfrm xmlns:a="http://schemas.openxmlformats.org/drawingml/2006/main">
            <a:off x="4457700" y="3429000"/>
            <a:ext cx="118110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WEEKS 3–4</a:t>
            </a:r>
          </a:p>
        </p:txBody>
      </p:sp>
      <p:sp>
        <p:nvSpPr>
          <p:cNvPr id="12" name="">
            <a:extLst xmlns:a="http://schemas.openxmlformats.org/drawingml/2006/main">
              <a:ext uri="{FF2B5EF4-FFF2-40B4-BE49-F238E27FC236}">
                <a16:creationId xmlns:a16="http://schemas.microsoft.com/office/drawing/2014/main" id="{1D67DC8F-DD6F-4BD1-86B7-70CE0012634C}"/>
              </a:ext>
            </a:extLst>
          </p:cNvPr>
          <p:cNvSpPr>
            <a:spLocks xmlns:a="http://schemas.openxmlformats.org/drawingml/2006/main" noGrp="1"/>
          </p:cNvSpPr>
          <p:nvPr/>
        </p:nvSpPr>
        <p:spPr>
          <a:xfrm xmlns:a="http://schemas.openxmlformats.org/drawingml/2006/main">
            <a:off x="4457700" y="39052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0D3B2E"/>
                </a:solidFill>
                <a:latin typeface="Helvetica Neue"/>
                <a:ea typeface="Helvetica Neue"/>
                <a:cs typeface="Helvetica Neue"/>
              </a:defRPr>
            </a:pPr>
            <a:r>
              <a:rPr sz="1800" b="1">
                <a:solidFill>
                  <a:srgbClr val="0D3B2E"/>
                </a:solidFill>
                <a:latin typeface="Helvetica Neue"/>
                <a:ea typeface="Helvetica Neue"/>
                <a:cs typeface="Helvetica Neue"/>
              </a:rPr>
              <a:t>PILOT</a:t>
            </a:r>
          </a:p>
        </p:txBody>
      </p:sp>
      <p:sp>
        <p:nvSpPr>
          <p:cNvPr id="13" name="">
            <a:extLst xmlns:a="http://schemas.openxmlformats.org/drawingml/2006/main">
              <a:ext uri="{FF2B5EF4-FFF2-40B4-BE49-F238E27FC236}">
                <a16:creationId xmlns:a16="http://schemas.microsoft.com/office/drawing/2014/main" id="{697699E2-3232-43CE-A66A-3B49D7C855D1}"/>
              </a:ext>
            </a:extLst>
          </p:cNvPr>
          <p:cNvSpPr>
            <a:spLocks xmlns:a="http://schemas.openxmlformats.org/drawingml/2006/main" noGrp="1"/>
          </p:cNvSpPr>
          <p:nvPr/>
        </p:nvSpPr>
        <p:spPr>
          <a:xfrm xmlns:a="http://schemas.openxmlformats.org/drawingml/2006/main">
            <a:off x="4457700" y="4400550"/>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E6C66"/>
                </a:solidFill>
                <a:latin typeface="Helvetica Neue"/>
                <a:ea typeface="Helvetica Neue"/>
                <a:cs typeface="Helvetica Neue"/>
              </a:defRPr>
            </a:pPr>
            <a:r>
              <a:rPr sz="1575" b="0">
                <a:solidFill>
                  <a:srgbClr val="5E6C66"/>
                </a:solidFill>
                <a:latin typeface="Helvetica Neue"/>
                <a:ea typeface="Helvetica Neue"/>
                <a:cs typeface="Helvetica Neue"/>
              </a:rPr>
              <a:t>Proposed cohort: 10 homeowners and 2 advisers, with consent.</a:t>
            </a:r>
          </a:p>
        </p:txBody>
      </p:sp>
      <p:sp>
        <p:nvSpPr>
          <p:cNvPr id="14" name="">
            <a:extLst xmlns:a="http://schemas.openxmlformats.org/drawingml/2006/main">
              <a:ext uri="{FF2B5EF4-FFF2-40B4-BE49-F238E27FC236}">
                <a16:creationId xmlns:a16="http://schemas.microsoft.com/office/drawing/2014/main" id="{DC2B6DB5-06EB-4020-83ED-A78995FEFE79}"/>
              </a:ext>
            </a:extLst>
          </p:cNvPr>
          <p:cNvSpPr>
            <a:spLocks xmlns:a="http://schemas.openxmlformats.org/drawingml/2006/main" noGrp="1"/>
          </p:cNvSpPr>
          <p:nvPr/>
        </p:nvSpPr>
        <p:spPr>
          <a:xfrm xmlns:a="http://schemas.openxmlformats.org/drawingml/2006/main">
            <a:off x="8458200" y="2381250"/>
            <a:ext cx="685800" cy="685800"/>
          </a:xfrm>
          <a:prstGeom xmlns:a="http://schemas.openxmlformats.org/drawingml/2006/main" prst="roundRect">
            <a:avLst>
              <a:gd name="adj" fmla="val 50000"/>
            </a:avLst>
          </a:prstGeom>
          <a:solidFill xmlns:a="http://schemas.openxmlformats.org/drawingml/2006/main">
            <a:srgbClr val="0D3B2E"/>
          </a:solidFill>
          <a:ln xmlns:a="http://schemas.openxmlformats.org/drawingml/2006/main" w="0">
            <a:solidFill>
              <a:srgbClr val="0D3B2E"/>
            </a:solidFill>
          </a:ln>
        </p:spPr>
        <p:txBody>
          <a:bodyPr xmlns:a="http://schemas.openxmlformats.org/drawingml/2006/main" anchor="ctr"/>
          <a:lstStyle xmlns:a="http://schemas.openxmlformats.org/drawingml/2006/main"/>
          <a:p xmlns:a="http://schemas.openxmlformats.org/drawingml/2006/main">
            <a:pPr>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58295417-08BC-478F-A8E5-DFBD308538E3}"/>
              </a:ext>
            </a:extLst>
          </p:cNvPr>
          <p:cNvSpPr>
            <a:spLocks xmlns:a="http://schemas.openxmlformats.org/drawingml/2006/main" noGrp="1"/>
          </p:cNvSpPr>
          <p:nvPr/>
        </p:nvSpPr>
        <p:spPr>
          <a:xfrm xmlns:a="http://schemas.openxmlformats.org/drawingml/2006/main">
            <a:off x="8267700" y="3429000"/>
            <a:ext cx="1181100" cy="323850"/>
          </a:xfrm>
          <a:prstGeom xmlns:a="http://schemas.openxmlformats.org/drawingml/2006/main" prst="roundRect">
            <a:avLst>
              <a:gd name="adj" fmla="val 50000"/>
            </a:avLst>
          </a:prstGeom>
          <a:solidFill xmlns:a="http://schemas.openxmlformats.org/drawingml/2006/main">
            <a:srgbClr val="E8F1EB"/>
          </a:solidFill>
          <a:ln xmlns:a="http://schemas.openxmlformats.org/drawingml/2006/main" w="0">
            <a:solidFill>
              <a:srgbClr val="E8F1EB"/>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WEEKS 5–6</a:t>
            </a:r>
          </a:p>
        </p:txBody>
      </p:sp>
      <p:sp>
        <p:nvSpPr>
          <p:cNvPr id="16" name="">
            <a:extLst xmlns:a="http://schemas.openxmlformats.org/drawingml/2006/main">
              <a:ext uri="{FF2B5EF4-FFF2-40B4-BE49-F238E27FC236}">
                <a16:creationId xmlns:a16="http://schemas.microsoft.com/office/drawing/2014/main" id="{58DF9E75-2E84-4E92-9F12-0FE8D80362DF}"/>
              </a:ext>
            </a:extLst>
          </p:cNvPr>
          <p:cNvSpPr>
            <a:spLocks xmlns:a="http://schemas.openxmlformats.org/drawingml/2006/main" noGrp="1"/>
          </p:cNvSpPr>
          <p:nvPr/>
        </p:nvSpPr>
        <p:spPr>
          <a:xfrm xmlns:a="http://schemas.openxmlformats.org/drawingml/2006/main">
            <a:off x="8267700" y="39052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1">
                <a:solidFill>
                  <a:srgbClr val="0D3B2E"/>
                </a:solidFill>
                <a:latin typeface="Helvetica Neue"/>
                <a:ea typeface="Helvetica Neue"/>
                <a:cs typeface="Helvetica Neue"/>
              </a:defRPr>
            </a:pPr>
            <a:r>
              <a:rPr sz="1800" b="1">
                <a:solidFill>
                  <a:srgbClr val="0D3B2E"/>
                </a:solidFill>
                <a:latin typeface="Helvetica Neue"/>
                <a:ea typeface="Helvetica Neue"/>
                <a:cs typeface="Helvetica Neue"/>
              </a:rPr>
              <a:t>MEASURE</a:t>
            </a:r>
          </a:p>
        </p:txBody>
      </p:sp>
      <p:sp>
        <p:nvSpPr>
          <p:cNvPr id="17" name="">
            <a:extLst xmlns:a="http://schemas.openxmlformats.org/drawingml/2006/main">
              <a:ext uri="{FF2B5EF4-FFF2-40B4-BE49-F238E27FC236}">
                <a16:creationId xmlns:a16="http://schemas.microsoft.com/office/drawing/2014/main" id="{19FB94D7-9B78-4127-BF64-CB631C5077CE}"/>
              </a:ext>
            </a:extLst>
          </p:cNvPr>
          <p:cNvSpPr>
            <a:spLocks xmlns:a="http://schemas.openxmlformats.org/drawingml/2006/main" noGrp="1"/>
          </p:cNvSpPr>
          <p:nvPr/>
        </p:nvSpPr>
        <p:spPr>
          <a:xfrm xmlns:a="http://schemas.openxmlformats.org/drawingml/2006/main">
            <a:off x="8267700" y="4400550"/>
            <a:ext cx="3095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5E6C66"/>
                </a:solidFill>
                <a:latin typeface="Helvetica Neue"/>
                <a:ea typeface="Helvetica Neue"/>
                <a:cs typeface="Helvetica Neue"/>
              </a:defRPr>
            </a:pPr>
            <a:r>
              <a:rPr sz="1575" b="0">
                <a:solidFill>
                  <a:srgbClr val="5E6C66"/>
                </a:solidFill>
                <a:latin typeface="Helvetica Neue"/>
                <a:ea typeface="Helvetica Neue"/>
                <a:cs typeface="Helvetica Neue"/>
              </a:rPr>
              <a:t>Clarity, brief preparation time and errors requiring correction.</a:t>
            </a:r>
          </a:p>
        </p:txBody>
      </p:sp>
    </p:spTree>
    <p:extLst>
      <p:ext uri="{BB962C8B-B14F-4D97-AF65-F5344CB8AC3E}">
        <p14:creationId xmlns:p14="http://schemas.microsoft.com/office/powerpoint/2010/main" val="3446338916"/>
      </p:ext>
    </p:extLst>
  </p:cSld>
</p:sld>
</file>

<file path=ppt/slides/slide12.xml><?xml version="1.0" encoding="utf-8"?>
<p:sld xmlns:p="http://schemas.openxmlformats.org/presentationml/2006/main">
  <p:cSld>
    <p:bg>
      <p:bgPr>
        <a:solidFill xmlns:a="http://schemas.openxmlformats.org/drawingml/2006/main">
          <a:srgbClr val="0D3B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e5771693c5479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381EE8-7920-4764-9C19-05ADF51708D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D3B2E">
              <a:alpha val="86275"/>
            </a:srgbClr>
          </a:solidFill>
          <a:ln xmlns:a="http://schemas.openxmlformats.org/drawingml/2006/main" w="0">
            <a:solidFill>
              <a:srgbClr val="0D3B2E">
                <a:alpha val="86275"/>
              </a:srgbClr>
            </a:solidFill>
          </a:ln>
        </p:spPr>
      </p:sp>
      <p:sp>
        <p:nvSpPr>
          <p:cNvPr id="3" name="">
            <a:extLst xmlns:a="http://schemas.openxmlformats.org/drawingml/2006/main">
              <a:ext uri="{FF2B5EF4-FFF2-40B4-BE49-F238E27FC236}">
                <a16:creationId xmlns:a16="http://schemas.microsoft.com/office/drawing/2014/main" id="{0E5D8D8E-D16B-4C9F-853E-B26C0ABD467A}"/>
              </a:ext>
            </a:extLst>
          </p:cNvPr>
          <p:cNvSpPr>
            <a:spLocks xmlns:a="http://schemas.openxmlformats.org/drawingml/2006/main" noGrp="1"/>
          </p:cNvSpPr>
          <p:nvPr/>
        </p:nvSpPr>
        <p:spPr>
          <a:xfrm xmlns:a="http://schemas.openxmlformats.org/drawingml/2006/main">
            <a:off x="495300" y="552450"/>
            <a:ext cx="876300" cy="323850"/>
          </a:xfrm>
          <a:prstGeom xmlns:a="http://schemas.openxmlformats.org/drawingml/2006/main" prst="roundRect">
            <a:avLst>
              <a:gd name="adj" fmla="val 50000"/>
            </a:avLst>
          </a:prstGeom>
          <a:solidFill xmlns:a="http://schemas.openxmlformats.org/drawingml/2006/main">
            <a:srgbClr val="A7D46F"/>
          </a:solidFill>
          <a:ln xmlns:a="http://schemas.openxmlformats.org/drawingml/2006/main" w="0">
            <a:solidFill>
              <a:srgbClr val="A7D46F"/>
            </a:solidFill>
          </a:ln>
        </p:spPr>
        <p:txBody>
          <a:bodyPr xmlns:a="http://schemas.openxmlformats.org/drawingml/2006/main" anchor="ctr"/>
          <a:lstStyle xmlns:a="http://schemas.openxmlformats.org/drawingml/2006/main"/>
          <a:p xmlns:a="http://schemas.openxmlformats.org/drawingml/2006/main">
            <a:pPr>
              <a:defRPr sz="1050" b="1">
                <a:solidFill>
                  <a:srgbClr val="0D3B2E"/>
                </a:solidFill>
                <a:latin typeface="Helvetica Neue"/>
                <a:ea typeface="Helvetica Neue"/>
                <a:cs typeface="Helvetica Neue"/>
              </a:defRPr>
            </a:pPr>
            <a:r>
              <a:rPr sz="1050" b="1">
                <a:solidFill>
                  <a:srgbClr val="0D3B2E"/>
                </a:solidFill>
                <a:latin typeface="Helvetica Neue"/>
                <a:ea typeface="Helvetica Neue"/>
                <a:cs typeface="Helvetica Neue"/>
              </a:rPr>
              <a:t>OUR ASK</a:t>
            </a:r>
          </a:p>
        </p:txBody>
      </p:sp>
      <p:sp>
        <p:nvSpPr>
          <p:cNvPr id="4" name="">
            <a:extLst xmlns:a="http://schemas.openxmlformats.org/drawingml/2006/main">
              <a:ext uri="{FF2B5EF4-FFF2-40B4-BE49-F238E27FC236}">
                <a16:creationId xmlns:a16="http://schemas.microsoft.com/office/drawing/2014/main" id="{F509BC3D-59DD-4950-B268-B55D717262CC}"/>
              </a:ext>
            </a:extLst>
          </p:cNvPr>
          <p:cNvSpPr>
            <a:spLocks xmlns:a="http://schemas.openxmlformats.org/drawingml/2006/main" noGrp="1"/>
          </p:cNvSpPr>
          <p:nvPr/>
        </p:nvSpPr>
        <p:spPr>
          <a:xfrm xmlns:a="http://schemas.openxmlformats.org/drawingml/2006/main">
            <a:off x="495300" y="1257300"/>
            <a:ext cx="647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Help us turn clarity</a:t>
            </a:r>
          </a:p>
          <a:p xmlns:a="http://schemas.openxmlformats.org/drawingml/2006/main">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into action</a:t>
            </a:r>
          </a:p>
        </p:txBody>
      </p:sp>
      <p:sp>
        <p:nvSpPr>
          <p:cNvPr id="5" name="">
            <a:extLst xmlns:a="http://schemas.openxmlformats.org/drawingml/2006/main">
              <a:ext uri="{FF2B5EF4-FFF2-40B4-BE49-F238E27FC236}">
                <a16:creationId xmlns:a16="http://schemas.microsoft.com/office/drawing/2014/main" id="{01364659-4F0A-496A-B193-A0AA131D4334}"/>
              </a:ext>
            </a:extLst>
          </p:cNvPr>
          <p:cNvSpPr>
            <a:spLocks xmlns:a="http://schemas.openxmlformats.org/drawingml/2006/main" noGrp="1"/>
          </p:cNvSpPr>
          <p:nvPr/>
        </p:nvSpPr>
        <p:spPr>
          <a:xfrm xmlns:a="http://schemas.openxmlformats.org/drawingml/2006/main">
            <a:off x="523875" y="3105150"/>
            <a:ext cx="714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75" b="0">
                <a:solidFill>
                  <a:srgbClr val="DCE9E1"/>
                </a:solidFill>
                <a:latin typeface="Helvetica Neue"/>
                <a:ea typeface="Helvetica Neue"/>
                <a:cs typeface="Helvetica Neue"/>
              </a:defRPr>
            </a:pPr>
            <a:r>
              <a:rPr sz="1875" b="0">
                <a:solidFill>
                  <a:srgbClr val="DCE9E1"/>
                </a:solidFill>
                <a:latin typeface="Helvetica Neue"/>
                <a:ea typeface="Helvetica Neue"/>
                <a:cs typeface="Helvetica Neue"/>
              </a:rPr>
              <a:t>Introductions to a pilot energy adviser or One Stop Shop,</a:t>
            </a:r>
          </a:p>
          <a:p xmlns:a="http://schemas.openxmlformats.org/drawingml/2006/main">
            <a:pPr>
              <a:defRPr sz="1875" b="0">
                <a:solidFill>
                  <a:srgbClr val="DCE9E1"/>
                </a:solidFill>
                <a:latin typeface="Helvetica Neue"/>
                <a:ea typeface="Helvetica Neue"/>
                <a:cs typeface="Helvetica Neue"/>
              </a:defRPr>
            </a:pPr>
            <a:r>
              <a:rPr sz="1875" b="0">
                <a:solidFill>
                  <a:srgbClr val="DCE9E1"/>
                </a:solidFill>
                <a:latin typeface="Helvetica Neue"/>
                <a:ea typeface="Helvetica Neue"/>
                <a:cs typeface="Helvetica Neue"/>
              </a:rPr>
              <a:t>and support exploring dependable BER data access.</a:t>
            </a:r>
          </a:p>
        </p:txBody>
      </p:sp>
      <p:sp>
        <p:nvSpPr>
          <p:cNvPr id="6" name="">
            <a:extLst xmlns:a="http://schemas.openxmlformats.org/drawingml/2006/main">
              <a:ext uri="{FF2B5EF4-FFF2-40B4-BE49-F238E27FC236}">
                <a16:creationId xmlns:a16="http://schemas.microsoft.com/office/drawing/2014/main" id="{3348F588-8476-46E4-BE07-C267F5B92E26}"/>
              </a:ext>
            </a:extLst>
          </p:cNvPr>
          <p:cNvSpPr>
            <a:spLocks xmlns:a="http://schemas.openxmlformats.org/drawingml/2006/main" noGrp="1"/>
          </p:cNvSpPr>
          <p:nvPr/>
        </p:nvSpPr>
        <p:spPr>
          <a:xfrm xmlns:a="http://schemas.openxmlformats.org/drawingml/2006/main">
            <a:off x="523875" y="4343400"/>
            <a:ext cx="857250" cy="0"/>
          </a:xfrm>
          <a:prstGeom xmlns:a="http://schemas.openxmlformats.org/drawingml/2006/main" prst="line">
            <a:avLst/>
          </a:prstGeom>
          <a:noFill xmlns:a="http://schemas.openxmlformats.org/drawingml/2006/main"/>
          <a:ln xmlns:a="http://schemas.openxmlformats.org/drawingml/2006/main" w="47625">
            <a:solidFill>
              <a:srgbClr val="A7D46F"/>
            </a:solidFill>
            <a:prstDash val="solid"/>
          </a:ln>
        </p:spPr>
      </p:sp>
      <p:sp>
        <p:nvSpPr>
          <p:cNvPr id="7" name="">
            <a:extLst xmlns:a="http://schemas.openxmlformats.org/drawingml/2006/main">
              <a:ext uri="{FF2B5EF4-FFF2-40B4-BE49-F238E27FC236}">
                <a16:creationId xmlns:a16="http://schemas.microsoft.com/office/drawing/2014/main" id="{4F3D1A8B-8790-4D7E-B06F-C0841B17E284}"/>
              </a:ext>
            </a:extLst>
          </p:cNvPr>
          <p:cNvSpPr>
            <a:spLocks xmlns:a="http://schemas.openxmlformats.org/drawingml/2006/main" noGrp="1"/>
          </p:cNvSpPr>
          <p:nvPr/>
        </p:nvSpPr>
        <p:spPr>
          <a:xfrm xmlns:a="http://schemas.openxmlformats.org/drawingml/2006/main">
            <a:off x="523875" y="46672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Vinay Nagrani  •  David Bodiu  •  George Sterpu</a:t>
            </a:r>
          </a:p>
        </p:txBody>
      </p:sp>
      <p:sp>
        <p:nvSpPr>
          <p:cNvPr id="8" name="">
            <a:extLst xmlns:a="http://schemas.openxmlformats.org/drawingml/2006/main">
              <a:ext uri="{FF2B5EF4-FFF2-40B4-BE49-F238E27FC236}">
                <a16:creationId xmlns:a16="http://schemas.microsoft.com/office/drawing/2014/main" id="{7732BC74-2416-4563-A1A5-5171977CE1DD}"/>
              </a:ext>
            </a:extLst>
          </p:cNvPr>
          <p:cNvSpPr>
            <a:spLocks xmlns:a="http://schemas.openxmlformats.org/drawingml/2006/main" noGrp="1"/>
          </p:cNvSpPr>
          <p:nvPr/>
        </p:nvSpPr>
        <p:spPr>
          <a:xfrm xmlns:a="http://schemas.openxmlformats.org/drawingml/2006/main">
            <a:off x="523875" y="5124450"/>
            <a:ext cx="685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00" b="0">
                <a:solidFill>
                  <a:srgbClr val="D9E8DE"/>
                </a:solidFill>
                <a:latin typeface="Helvetica Neue"/>
                <a:ea typeface="Helvetica Neue"/>
                <a:cs typeface="Helvetica Neue"/>
              </a:defRPr>
            </a:pPr>
            <a:r>
              <a:rPr sz="1200" b="0">
                <a:solidFill>
                  <a:srgbClr val="D9E8DE"/>
                </a:solidFill>
                <a:latin typeface="Helvetica Neue"/>
                <a:ea typeface="Helvetica Neue"/>
                <a:cs typeface="Helvetica Neue"/>
              </a:rPr>
              <a:t>Built through participation in the AI national challenge</a:t>
            </a:r>
          </a:p>
        </p:txBody>
      </p:sp>
      <p:sp>
        <p:nvSpPr>
          <p:cNvPr id="9" name="">
            <a:extLst xmlns:a="http://schemas.openxmlformats.org/drawingml/2006/main">
              <a:ext uri="{FF2B5EF4-FFF2-40B4-BE49-F238E27FC236}">
                <a16:creationId xmlns:a16="http://schemas.microsoft.com/office/drawing/2014/main" id="{64683F4B-2518-4ACC-A74C-B59D76C3F882}"/>
              </a:ext>
            </a:extLst>
          </p:cNvPr>
          <p:cNvSpPr>
            <a:spLocks xmlns:a="http://schemas.openxmlformats.org/drawingml/2006/main" noGrp="1"/>
          </p:cNvSpPr>
          <p:nvPr/>
        </p:nvSpPr>
        <p:spPr>
          <a:xfrm xmlns:a="http://schemas.openxmlformats.org/drawingml/2006/main">
            <a:off x="523875" y="617220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75" b="1">
                <a:solidFill>
                  <a:srgbClr val="A7D46F"/>
                </a:solidFill>
                <a:latin typeface="Helvetica Neue"/>
                <a:ea typeface="Helvetica Neue"/>
                <a:cs typeface="Helvetica Neue"/>
              </a:defRPr>
            </a:pPr>
            <a:r>
              <a:rPr sz="975" b="1">
                <a:solidFill>
                  <a:srgbClr val="A7D46F"/>
                </a:solidFill>
                <a:latin typeface="Helvetica Neue"/>
                <a:ea typeface="Helvetica Neue"/>
                <a:cs typeface="Helvetica Neue"/>
              </a:rPr>
              <a:t>RETROFITPATHFINDER</a:t>
            </a:r>
          </a:p>
        </p:txBody>
      </p:sp>
    </p:spTree>
    <p:extLst>
      <p:ext uri="{BB962C8B-B14F-4D97-AF65-F5344CB8AC3E}">
        <p14:creationId xmlns:p14="http://schemas.microsoft.com/office/powerpoint/2010/main" val="3653678558"/>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2026-09-13T13:04:57.4760000Z</dcterms:created>
  <dcterms:modified xsi:type="dcterms:W3CDTF">2026-09-13T13:04:57.4760000Z</dcterms:modified>
</coreProperties>
</file>